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51" r:id="rId2"/>
    <p:sldMasterId id="2147483653" r:id="rId3"/>
  </p:sldMasterIdLst>
  <p:sldIdLst>
    <p:sldId id="256" r:id="rId4"/>
    <p:sldId id="258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Objects="1"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cropython_cover_1">
            <a:extLst>
              <a:ext uri="{FF2B5EF4-FFF2-40B4-BE49-F238E27FC236}">
                <a16:creationId xmlns:a16="http://schemas.microsoft.com/office/drawing/2014/main" id="{1722BF11-ACE6-45A0-9467-329073694F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2944813"/>
            <a:ext cx="5715000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micropython_cover_2">
            <a:extLst>
              <a:ext uri="{FF2B5EF4-FFF2-40B4-BE49-F238E27FC236}">
                <a16:creationId xmlns:a16="http://schemas.microsoft.com/office/drawing/2014/main" id="{F588781D-ED68-4249-8835-9FB98D009C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5" y="206375"/>
            <a:ext cx="38100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author">
            <a:extLst>
              <a:ext uri="{FF2B5EF4-FFF2-40B4-BE49-F238E27FC236}">
                <a16:creationId xmlns:a16="http://schemas.microsoft.com/office/drawing/2014/main" id="{5195D978-4DDB-4D49-817F-B8205FE52B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25" y="6196013"/>
            <a:ext cx="9525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flag_logo">
            <a:extLst>
              <a:ext uri="{FF2B5EF4-FFF2-40B4-BE49-F238E27FC236}">
                <a16:creationId xmlns:a16="http://schemas.microsoft.com/office/drawing/2014/main" id="{A4DDA61D-8776-42DA-AA54-3A012A0140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25" y="219075"/>
            <a:ext cx="5715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803645"/>
      </p:ext>
    </p:extLst>
  </p:cSld>
  <p:clrMapOvr>
    <a:masterClrMapping/>
  </p:clrMapOvr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18994A47-B9AB-4A1E-9C8D-510A0AA1A6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F26CD837-2220-40EE-9416-DB23178BC7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078EBA-E32A-4BDA-8C68-B8F491C3B3F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80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7D242370-2FCE-4B16-B3DA-66B8DB6650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B68117C7-BE44-4B08-ABF5-156D89F7CC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63E7B2-2D19-4693-87C8-93DD02DEFED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28510D8D-67E2-4063-88C6-0938BFD1C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0E8558EA-C6B3-49DD-8AB9-5FDF143E4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498AC2CA-5208-4B9D-9C0A-1AAE2DFA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EF1970-B2C2-41BD-9B32-89BFAF25BB7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41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30A5B0E1-2790-4301-AA31-75794B91FC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F9E73565-2831-4EF4-8F4B-048FAA687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ED72017C-043E-4178-BDDB-1740533EE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045C3A-EE88-4B2A-9FE6-99A6E0AAF82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7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EDD9433C-B7BF-43EF-9218-A29A77424C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7F925D7E-0522-4BBD-A2A8-08D789034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6E5C235F-9043-4236-AF80-485CA302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1921C8-8595-467B-B222-9E4E85F3B2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4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9C0B9578-AE98-46C0-BB18-8274D825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AD4D9AD2-346B-40D8-854C-A10A0F333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AF241EDA-0D97-4332-A040-102F7741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D45219-0C62-4EA9-AB54-9F453716A8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6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4100">
            <a:extLst>
              <a:ext uri="{FF2B5EF4-FFF2-40B4-BE49-F238E27FC236}">
                <a16:creationId xmlns:a16="http://schemas.microsoft.com/office/drawing/2014/main" id="{83FF71AE-6754-4CD4-94FA-D0F1FBF738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4101">
            <a:extLst>
              <a:ext uri="{FF2B5EF4-FFF2-40B4-BE49-F238E27FC236}">
                <a16:creationId xmlns:a16="http://schemas.microsoft.com/office/drawing/2014/main" id="{0D7C3D1F-83AE-48D0-855F-82FCF7EC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4102">
            <a:extLst>
              <a:ext uri="{FF2B5EF4-FFF2-40B4-BE49-F238E27FC236}">
                <a16:creationId xmlns:a16="http://schemas.microsoft.com/office/drawing/2014/main" id="{2964E9B8-9F9C-488B-A64B-012F1A0EA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E04402-6392-41E5-A3AC-6FE7A9DA18A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5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4100">
            <a:extLst>
              <a:ext uri="{FF2B5EF4-FFF2-40B4-BE49-F238E27FC236}">
                <a16:creationId xmlns:a16="http://schemas.microsoft.com/office/drawing/2014/main" id="{1F2E48F6-38A4-43E5-9831-066B9F5EA3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101">
            <a:extLst>
              <a:ext uri="{FF2B5EF4-FFF2-40B4-BE49-F238E27FC236}">
                <a16:creationId xmlns:a16="http://schemas.microsoft.com/office/drawing/2014/main" id="{5A26170D-8CE8-41B5-B113-534B2125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102">
            <a:extLst>
              <a:ext uri="{FF2B5EF4-FFF2-40B4-BE49-F238E27FC236}">
                <a16:creationId xmlns:a16="http://schemas.microsoft.com/office/drawing/2014/main" id="{8944F9F6-413B-4F87-AD0E-280DD045F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CCA4FD-F7BB-4531-A4CB-B9A12AB9714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1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100">
            <a:extLst>
              <a:ext uri="{FF2B5EF4-FFF2-40B4-BE49-F238E27FC236}">
                <a16:creationId xmlns:a16="http://schemas.microsoft.com/office/drawing/2014/main" id="{7830B61E-FDEF-4139-9327-C024504509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4101">
            <a:extLst>
              <a:ext uri="{FF2B5EF4-FFF2-40B4-BE49-F238E27FC236}">
                <a16:creationId xmlns:a16="http://schemas.microsoft.com/office/drawing/2014/main" id="{B9BF0D23-C5AB-4AFC-8485-4625F50C2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4102">
            <a:extLst>
              <a:ext uri="{FF2B5EF4-FFF2-40B4-BE49-F238E27FC236}">
                <a16:creationId xmlns:a16="http://schemas.microsoft.com/office/drawing/2014/main" id="{194498B6-3B3A-4F61-9ED3-DC0A7642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8FC2C-CC0B-416B-8392-CCA8A057FB5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0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CC9FBCA0-FDF5-4B8E-A604-A769FA382B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D97B1C48-E9FD-49A3-B39B-F8B0D21E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AAB7DFC9-4882-42B7-B123-2FD37719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81FA17-30CE-4061-814F-732B45CF622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21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DCD0549F-B10D-4DE7-96F0-F8360E9E9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E06E6139-6428-4998-A4F2-87D5050E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D8E848BE-BA22-41DD-AC6C-E583F26E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0B4CD3-64CB-485A-AF00-455BF4ED8BC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13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0F0085CB-F3F2-4CBC-A65B-7F91C5645F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DD271A42-038F-42BE-AC53-E3CEE8E4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A8A29005-470A-4E00-AA11-2CBBDA7A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212AB4-834D-4FAE-B4EC-0AF55BF58AA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41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EAB43BE2-7AF3-4B97-95DD-9B809570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8E5A6ECC-791C-4313-BE96-22305DCC4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BA914473-FFA1-4196-8181-C09325351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68731E-FD56-4FDC-8261-3D89DFF56AD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3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DF2EF6B4-4F5D-4043-84DF-FA0D8AD460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A792AAF0-23F1-42C2-BA3D-57BD5714D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0B66A3C6-3432-4B51-833E-1643843F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4F386F-D574-4B93-A247-7F31CC0947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24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6">
            <a:extLst>
              <a:ext uri="{FF2B5EF4-FFF2-40B4-BE49-F238E27FC236}">
                <a16:creationId xmlns:a16="http://schemas.microsoft.com/office/drawing/2014/main" id="{1575A70F-B321-4222-BCEE-DF473654A3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027">
            <a:extLst>
              <a:ext uri="{FF2B5EF4-FFF2-40B4-BE49-F238E27FC236}">
                <a16:creationId xmlns:a16="http://schemas.microsoft.com/office/drawing/2014/main" id="{57003183-9F93-4B6C-B975-39D87A60A16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Date Placeholder 1028">
            <a:extLst>
              <a:ext uri="{FF2B5EF4-FFF2-40B4-BE49-F238E27FC236}">
                <a16:creationId xmlns:a16="http://schemas.microsoft.com/office/drawing/2014/main" id="{572E50C5-F194-4C8B-8D2C-49A83E802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030" name="Footer Placeholder 1029">
            <a:extLst>
              <a:ext uri="{FF2B5EF4-FFF2-40B4-BE49-F238E27FC236}">
                <a16:creationId xmlns:a16="http://schemas.microsoft.com/office/drawing/2014/main" id="{0348A395-19C1-40DC-A3D6-05CD5E6C7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031" name="Slide Number Placeholder 1030">
            <a:extLst>
              <a:ext uri="{FF2B5EF4-FFF2-40B4-BE49-F238E27FC236}">
                <a16:creationId xmlns:a16="http://schemas.microsoft.com/office/drawing/2014/main" id="{4381100F-A3A2-40DC-AE37-24750C809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0D0E6ED-BFF3-45CD-ACFC-B74FBCE7B46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074">
            <a:extLst>
              <a:ext uri="{FF2B5EF4-FFF2-40B4-BE49-F238E27FC236}">
                <a16:creationId xmlns:a16="http://schemas.microsoft.com/office/drawing/2014/main" id="{45E2A787-644E-4BB9-9676-354F6D3DC0F2}"/>
              </a:ext>
            </a:extLst>
          </p:cNvPr>
          <p:cNvSpPr>
            <a:spLocks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3075">
            <a:extLst>
              <a:ext uri="{FF2B5EF4-FFF2-40B4-BE49-F238E27FC236}">
                <a16:creationId xmlns:a16="http://schemas.microsoft.com/office/drawing/2014/main" id="{5BD1F6FA-7C60-4CA7-AAA5-ACE9494D1A2D}"/>
              </a:ext>
            </a:extLst>
          </p:cNvPr>
          <p:cNvSpPr>
            <a:spLocks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A06E45C0-C5F8-42FF-A000-7A141E531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B0F5EC84-8CF5-4163-8F28-6B92B03E1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6F3B85BB-1DCE-42DD-9300-561CB9C21333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  <p:pic>
        <p:nvPicPr>
          <p:cNvPr id="2054" name="Picture 1" descr="boards">
            <a:extLst>
              <a:ext uri="{FF2B5EF4-FFF2-40B4-BE49-F238E27FC236}">
                <a16:creationId xmlns:a16="http://schemas.microsoft.com/office/drawing/2014/main" id="{70DB06CF-FA7A-4EB3-8B42-8173A0FCE9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1847850"/>
            <a:ext cx="131445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" descr="banner">
            <a:extLst>
              <a:ext uri="{FF2B5EF4-FFF2-40B4-BE49-F238E27FC236}">
                <a16:creationId xmlns:a16="http://schemas.microsoft.com/office/drawing/2014/main" id="{8B520C2B-C6EB-4983-8F8B-B4BF4EFDCA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00" y="-17463"/>
            <a:ext cx="9196388" cy="1254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itle 4098">
            <a:extLst>
              <a:ext uri="{FF2B5EF4-FFF2-40B4-BE49-F238E27FC236}">
                <a16:creationId xmlns:a16="http://schemas.microsoft.com/office/drawing/2014/main" id="{2C327605-19BA-4A83-ABF4-662069E17846}"/>
              </a:ext>
            </a:extLst>
          </p:cNvPr>
          <p:cNvSpPr>
            <a:spLocks noChangeArrowheads="1"/>
          </p:cNvSpPr>
          <p:nvPr>
            <p:ph type="title" idx="4294967295"/>
          </p:nvPr>
        </p:nvSpPr>
        <p:spPr bwMode="auto">
          <a:xfrm>
            <a:off x="2195513" y="101600"/>
            <a:ext cx="6769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6" name="Text Placeholder 4099">
            <a:extLst>
              <a:ext uri="{FF2B5EF4-FFF2-40B4-BE49-F238E27FC236}">
                <a16:creationId xmlns:a16="http://schemas.microsoft.com/office/drawing/2014/main" id="{B366231D-6F3F-4B74-927E-EC17F5EFA21D}"/>
              </a:ext>
            </a:extLst>
          </p:cNvPr>
          <p:cNvSpPr>
            <a:spLocks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Date Placeholder 4100">
            <a:extLst>
              <a:ext uri="{FF2B5EF4-FFF2-40B4-BE49-F238E27FC236}">
                <a16:creationId xmlns:a16="http://schemas.microsoft.com/office/drawing/2014/main" id="{23D7C116-EB1C-4D92-9C3A-073BAC735F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/>
            </a:lvl1pPr>
          </a:lstStyle>
          <a:p>
            <a:endParaRPr lang="en-US"/>
          </a:p>
        </p:txBody>
      </p:sp>
      <p:sp>
        <p:nvSpPr>
          <p:cNvPr id="4102" name="Footer Placeholder 4101">
            <a:extLst>
              <a:ext uri="{FF2B5EF4-FFF2-40B4-BE49-F238E27FC236}">
                <a16:creationId xmlns:a16="http://schemas.microsoft.com/office/drawing/2014/main" id="{71447772-3874-48FD-BDF3-EC14A876A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4103" name="Slide Number Placeholder 4102">
            <a:extLst>
              <a:ext uri="{FF2B5EF4-FFF2-40B4-BE49-F238E27FC236}">
                <a16:creationId xmlns:a16="http://schemas.microsoft.com/office/drawing/2014/main" id="{50B14BE1-7EE7-45AF-978C-E25D0CA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CE213AB5-60F0-4DE6-8D65-A17AB6A804E3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7" r:id="rId2"/>
    <p:sldLayoutId id="2147483666" r:id="rId3"/>
    <p:sldLayoutId id="2147483665" r:id="rId4"/>
    <p:sldLayoutId id="2147483664" r:id="rId5"/>
    <p:sldLayoutId id="2147483663" r:id="rId6"/>
    <p:sldLayoutId id="2147483662" r:id="rId7"/>
    <p:sldLayoutId id="2147483661" r:id="rId8"/>
    <p:sldLayoutId id="2147483660" r:id="rId9"/>
    <p:sldLayoutId id="2147483659" r:id="rId10"/>
    <p:sldLayoutId id="2147483658" r:id="rId11"/>
    <p:sldLayoutId id="2147483657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oo.gl/rWhMSL&#65288;&#23448;&#26041;&#29256;&#65289;&#25110;https:/goo.gl/YAys6k&#65288;&#38750;&#23448;&#26041;Mac&#29256;&#65289;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7169">
            <a:extLst>
              <a:ext uri="{FF2B5EF4-FFF2-40B4-BE49-F238E27FC236}">
                <a16:creationId xmlns:a16="http://schemas.microsoft.com/office/drawing/2014/main" id="{6ABE753D-FAAA-4894-8331-EA853CCD0C89}"/>
              </a:ext>
            </a:extLst>
          </p:cNvPr>
          <p:cNvSpPr>
            <a:spLocks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第</a:t>
            </a:r>
            <a:r>
              <a:rPr lang="en-US" altLang="zh-TW"/>
              <a:t>1</a:t>
            </a:r>
            <a:r>
              <a:rPr lang="zh-TW" altLang="en-US"/>
              <a:t>章 認識MicroPython與ESP8266控制板</a:t>
            </a:r>
          </a:p>
        </p:txBody>
      </p:sp>
      <p:sp>
        <p:nvSpPr>
          <p:cNvPr id="6146" name="Text Placeholder 7170">
            <a:extLst>
              <a:ext uri="{FF2B5EF4-FFF2-40B4-BE49-F238E27FC236}">
                <a16:creationId xmlns:a16="http://schemas.microsoft.com/office/drawing/2014/main" id="{0B8214A1-081C-4D9E-9167-62ED80DC5382}"/>
              </a:ext>
            </a:extLst>
          </p:cNvPr>
          <p:cNvSpPr>
            <a:spLocks noChangeArrowheads="1"/>
          </p:cNvSpPr>
          <p:nvPr>
            <p:ph idx="1"/>
          </p:nvPr>
        </p:nvSpPr>
        <p:spPr>
          <a:xfrm>
            <a:off x="3073400" y="2043113"/>
            <a:ext cx="5761038" cy="40878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TW" altLang="en-US" sz="2800"/>
              <a:t>MicroPython與ESP8266控制板簡介</a:t>
            </a:r>
          </a:p>
          <a:p>
            <a:pPr>
              <a:lnSpc>
                <a:spcPct val="90000"/>
              </a:lnSpc>
            </a:pPr>
            <a:r>
              <a:rPr lang="zh-TW" altLang="en-US" sz="2800"/>
              <a:t>電子零組件、模組和擴展板簡介</a:t>
            </a:r>
          </a:p>
          <a:p>
            <a:pPr>
              <a:lnSpc>
                <a:spcPct val="90000"/>
              </a:lnSpc>
            </a:pPr>
            <a:r>
              <a:rPr lang="zh-TW" altLang="en-US" sz="2800"/>
              <a:t>認識程式語言</a:t>
            </a:r>
          </a:p>
          <a:p>
            <a:pPr>
              <a:lnSpc>
                <a:spcPct val="90000"/>
              </a:lnSpc>
            </a:pPr>
            <a:r>
              <a:rPr lang="zh-TW" altLang="en-US" sz="2800"/>
              <a:t>在電腦上安裝Python 3執行環境</a:t>
            </a:r>
          </a:p>
          <a:p>
            <a:pPr>
              <a:lnSpc>
                <a:spcPct val="90000"/>
              </a:lnSpc>
            </a:pPr>
            <a:r>
              <a:rPr lang="zh-TW" altLang="en-US" sz="2800"/>
              <a:t>替ESP8266控制板燒錄MicroPython韌體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0241">
            <a:extLst>
              <a:ext uri="{FF2B5EF4-FFF2-40B4-BE49-F238E27FC236}">
                <a16:creationId xmlns:a16="http://schemas.microsoft.com/office/drawing/2014/main" id="{6D9A474D-2A33-4CDC-95DB-D25B56B94AAC}"/>
              </a:ext>
            </a:extLst>
          </p:cNvPr>
          <p:cNvSpPr>
            <a:spLocks noChangeArrowheads="1"/>
          </p:cNvSpPr>
          <p:nvPr>
            <p:ph type="title"/>
          </p:nvPr>
        </p:nvSpPr>
        <p:spPr>
          <a:xfrm>
            <a:off x="1905000" y="101600"/>
            <a:ext cx="7316788" cy="1143000"/>
          </a:xfrm>
        </p:spPr>
        <p:txBody>
          <a:bodyPr/>
          <a:lstStyle/>
          <a:p>
            <a:r>
              <a:rPr lang="zh-TW" altLang="en-US"/>
              <a:t>認識MicroPython、pyboard和ESP8266控制板</a:t>
            </a:r>
          </a:p>
        </p:txBody>
      </p:sp>
      <p:sp>
        <p:nvSpPr>
          <p:cNvPr id="7170" name="Text Box 10242">
            <a:extLst>
              <a:ext uri="{FF2B5EF4-FFF2-40B4-BE49-F238E27FC236}">
                <a16:creationId xmlns:a16="http://schemas.microsoft.com/office/drawing/2014/main" id="{7B31883D-3E58-47E3-889E-E61ECD235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" y="1658938"/>
            <a:ext cx="643255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MicroPython是個在微控器上運作的開放原始碼Python 3直譯器，由劍橋大學數學科學中心的物理學家Damien P. George（達米安·喬治）在閒暇之餘開發而成。</a:t>
            </a:r>
          </a:p>
        </p:txBody>
      </p:sp>
      <p:sp>
        <p:nvSpPr>
          <p:cNvPr id="7171" name="Oval 8202">
            <a:extLst>
              <a:ext uri="{FF2B5EF4-FFF2-40B4-BE49-F238E27FC236}">
                <a16:creationId xmlns:a16="http://schemas.microsoft.com/office/drawing/2014/main" id="{1C2D205A-D502-4549-8FFA-B4F28C996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72" name="Text Box 8203">
            <a:extLst>
              <a:ext uri="{FF2B5EF4-FFF2-40B4-BE49-F238E27FC236}">
                <a16:creationId xmlns:a16="http://schemas.microsoft.com/office/drawing/2014/main" id="{4CBC2E37-9F34-47A3-85F4-35F72B35E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5880100"/>
            <a:ext cx="639763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2</a:t>
            </a:r>
          </a:p>
        </p:txBody>
      </p:sp>
      <p:pic>
        <p:nvPicPr>
          <p:cNvPr id="7173" name="Picture 1" descr="m1">
            <a:extLst>
              <a:ext uri="{FF2B5EF4-FFF2-40B4-BE49-F238E27FC236}">
                <a16:creationId xmlns:a16="http://schemas.microsoft.com/office/drawing/2014/main" id="{7199B729-28B2-4608-9BF8-BA2359F09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3062288"/>
            <a:ext cx="259715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2" descr="m2">
            <a:extLst>
              <a:ext uri="{FF2B5EF4-FFF2-40B4-BE49-F238E27FC236}">
                <a16:creationId xmlns:a16="http://schemas.microsoft.com/office/drawing/2014/main" id="{3E877D7E-3533-4CB1-87B2-C1E7969B0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300" y="2995613"/>
            <a:ext cx="41656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3" descr="m3">
            <a:extLst>
              <a:ext uri="{FF2B5EF4-FFF2-40B4-BE49-F238E27FC236}">
                <a16:creationId xmlns:a16="http://schemas.microsoft.com/office/drawing/2014/main" id="{C178186D-1B2D-4681-AD8F-558E1ED93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388" y="4900613"/>
            <a:ext cx="42291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itle 1">
            <a:extLst>
              <a:ext uri="{FF2B5EF4-FFF2-40B4-BE49-F238E27FC236}">
                <a16:creationId xmlns:a16="http://schemas.microsoft.com/office/drawing/2014/main" id="{BD69F4B5-56A5-4A6D-80EF-8AC037566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1350" y="101600"/>
            <a:ext cx="7053263" cy="1143000"/>
          </a:xfrm>
        </p:spPr>
        <p:txBody>
          <a:bodyPr/>
          <a:lstStyle/>
          <a:p>
            <a:r>
              <a:rPr lang="en-US" altLang="zh-CN"/>
              <a:t>電子零組件、模組和擴展板</a:t>
            </a:r>
          </a:p>
        </p:txBody>
      </p:sp>
      <p:pic>
        <p:nvPicPr>
          <p:cNvPr id="8194" name="Picture 3" descr="m5">
            <a:extLst>
              <a:ext uri="{FF2B5EF4-FFF2-40B4-BE49-F238E27FC236}">
                <a16:creationId xmlns:a16="http://schemas.microsoft.com/office/drawing/2014/main" id="{F01C2F03-62BC-4560-8191-3C38F44CD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1516063"/>
            <a:ext cx="451485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4" descr="m6">
            <a:extLst>
              <a:ext uri="{FF2B5EF4-FFF2-40B4-BE49-F238E27FC236}">
                <a16:creationId xmlns:a16="http://schemas.microsoft.com/office/drawing/2014/main" id="{6F16C602-C7B6-4F50-8AAF-22BCF934E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0" y="1773238"/>
            <a:ext cx="19304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5" descr="m7">
            <a:extLst>
              <a:ext uri="{FF2B5EF4-FFF2-40B4-BE49-F238E27FC236}">
                <a16:creationId xmlns:a16="http://schemas.microsoft.com/office/drawing/2014/main" id="{95A41752-976F-4BB3-80BA-C003BD33A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3759200"/>
            <a:ext cx="146685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6" descr="m7_3">
            <a:extLst>
              <a:ext uri="{FF2B5EF4-FFF2-40B4-BE49-F238E27FC236}">
                <a16:creationId xmlns:a16="http://schemas.microsoft.com/office/drawing/2014/main" id="{7C514632-2121-4CAC-B16C-675AEE85B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575" y="5154613"/>
            <a:ext cx="412115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7" descr="m7_1">
            <a:extLst>
              <a:ext uri="{FF2B5EF4-FFF2-40B4-BE49-F238E27FC236}">
                <a16:creationId xmlns:a16="http://schemas.microsoft.com/office/drawing/2014/main" id="{5FCFEE7F-92EA-44F1-BFAD-2A4D4FF38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388" y="3759200"/>
            <a:ext cx="412115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Oval 8202">
            <a:extLst>
              <a:ext uri="{FF2B5EF4-FFF2-40B4-BE49-F238E27FC236}">
                <a16:creationId xmlns:a16="http://schemas.microsoft.com/office/drawing/2014/main" id="{9F1B29AA-D0A4-4307-8660-4DDA8E179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00" name="Text Box 8203">
            <a:extLst>
              <a:ext uri="{FF2B5EF4-FFF2-40B4-BE49-F238E27FC236}">
                <a16:creationId xmlns:a16="http://schemas.microsoft.com/office/drawing/2014/main" id="{5BBCD1A4-2C3B-4143-AAA4-7517CAC72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5880100"/>
            <a:ext cx="639763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FC21B2AD-021E-4126-B875-3E02BDE5B7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認識程式語言</a:t>
            </a:r>
          </a:p>
        </p:txBody>
      </p:sp>
      <p:sp>
        <p:nvSpPr>
          <p:cNvPr id="9218" name="Oval 8202">
            <a:extLst>
              <a:ext uri="{FF2B5EF4-FFF2-40B4-BE49-F238E27FC236}">
                <a16:creationId xmlns:a16="http://schemas.microsoft.com/office/drawing/2014/main" id="{948F46C5-9C6B-4095-B953-7534D3618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19" name="Text Box 8203">
            <a:extLst>
              <a:ext uri="{FF2B5EF4-FFF2-40B4-BE49-F238E27FC236}">
                <a16:creationId xmlns:a16="http://schemas.microsoft.com/office/drawing/2014/main" id="{AA8E971F-7D2C-4E69-8B96-9368F573A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5880100"/>
            <a:ext cx="690563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10</a:t>
            </a:r>
          </a:p>
        </p:txBody>
      </p:sp>
      <p:pic>
        <p:nvPicPr>
          <p:cNvPr id="9223" name="Picture 7" descr="m16">
            <a:extLst>
              <a:ext uri="{FF2B5EF4-FFF2-40B4-BE49-F238E27FC236}">
                <a16:creationId xmlns:a16="http://schemas.microsoft.com/office/drawing/2014/main" id="{517617F1-E1B4-4F36-8AF7-34C261A5A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813" y="2986088"/>
            <a:ext cx="3733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81" descr="PY8">
            <a:extLst>
              <a:ext uri="{FF2B5EF4-FFF2-40B4-BE49-F238E27FC236}">
                <a16:creationId xmlns:a16="http://schemas.microsoft.com/office/drawing/2014/main" id="{1E0EC7A2-1029-43AD-83D6-0C2419FF1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3" y="1353508"/>
            <a:ext cx="46005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EA3FBC0-E670-46AA-B7E1-BA7FC38DD9C4}"/>
              </a:ext>
            </a:extLst>
          </p:cNvPr>
          <p:cNvSpPr/>
          <p:nvPr/>
        </p:nvSpPr>
        <p:spPr>
          <a:xfrm>
            <a:off x="5004048" y="1455738"/>
            <a:ext cx="33016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轉譯之後的</a:t>
            </a:r>
            <a:r>
              <a:rPr lang="zh-TW" altLang="zh-TW" sz="14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二進位檔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相當於電腦上的</a:t>
            </a:r>
            <a:r>
              <a:rPr lang="zh-TW" altLang="zh-TW" sz="14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可執行檔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，可直接在微控器上執行。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225" name="Picture 80" descr="PY9">
            <a:extLst>
              <a:ext uri="{FF2B5EF4-FFF2-40B4-BE49-F238E27FC236}">
                <a16:creationId xmlns:a16="http://schemas.microsoft.com/office/drawing/2014/main" id="{AB8891FD-EE5B-4EAB-8B33-3B92623D7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3154048"/>
            <a:ext cx="43815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Picture 83" descr="py11">
            <a:extLst>
              <a:ext uri="{FF2B5EF4-FFF2-40B4-BE49-F238E27FC236}">
                <a16:creationId xmlns:a16="http://schemas.microsoft.com/office/drawing/2014/main" id="{62711445-2186-4FF2-A9D5-25C015419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807" y="4638046"/>
            <a:ext cx="439102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BB2F7F7-2BAB-4B6D-8B3F-9D1A0B7A2B87}"/>
              </a:ext>
            </a:extLst>
          </p:cNvPr>
          <p:cNvSpPr/>
          <p:nvPr/>
        </p:nvSpPr>
        <p:spPr>
          <a:xfrm>
            <a:off x="611560" y="4765828"/>
            <a:ext cx="347289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編譯和組譯產生的二進位檔可直接在微控制器運作；直譯式則需要在電腦或者微控器上安裝直譯器，才能執行程式碼。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6" descr="m24">
            <a:extLst>
              <a:ext uri="{FF2B5EF4-FFF2-40B4-BE49-F238E27FC236}">
                <a16:creationId xmlns:a16="http://schemas.microsoft.com/office/drawing/2014/main" id="{B0360052-5F28-4B46-A865-38AED0A5B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88" y="3979863"/>
            <a:ext cx="3589337" cy="253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2" name="Title 1">
            <a:extLst>
              <a:ext uri="{FF2B5EF4-FFF2-40B4-BE49-F238E27FC236}">
                <a16:creationId xmlns:a16="http://schemas.microsoft.com/office/drawing/2014/main" id="{91390FD8-C444-4C1D-B6A9-0187E0A18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安裝</a:t>
            </a:r>
            <a:r>
              <a:rPr lang="en-US" altLang="zh-TW"/>
              <a:t>Python 3</a:t>
            </a:r>
          </a:p>
        </p:txBody>
      </p:sp>
      <p:sp>
        <p:nvSpPr>
          <p:cNvPr id="10243" name="Oval 8202">
            <a:extLst>
              <a:ext uri="{FF2B5EF4-FFF2-40B4-BE49-F238E27FC236}">
                <a16:creationId xmlns:a16="http://schemas.microsoft.com/office/drawing/2014/main" id="{2AC2C028-0C69-4B6B-88D0-426DF1158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44" name="Text Box 8203">
            <a:extLst>
              <a:ext uri="{FF2B5EF4-FFF2-40B4-BE49-F238E27FC236}">
                <a16:creationId xmlns:a16="http://schemas.microsoft.com/office/drawing/2014/main" id="{A3A1BA76-6A81-4BDF-B792-53E8058A3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5880100"/>
            <a:ext cx="690563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13</a:t>
            </a:r>
          </a:p>
        </p:txBody>
      </p:sp>
      <p:pic>
        <p:nvPicPr>
          <p:cNvPr id="10245" name="Picture 3" descr="m21">
            <a:extLst>
              <a:ext uri="{FF2B5EF4-FFF2-40B4-BE49-F238E27FC236}">
                <a16:creationId xmlns:a16="http://schemas.microsoft.com/office/drawing/2014/main" id="{A41A5C69-DA3D-49AE-87C5-927B5E74A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975" y="1406525"/>
            <a:ext cx="3594100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4" descr="m20">
            <a:extLst>
              <a:ext uri="{FF2B5EF4-FFF2-40B4-BE49-F238E27FC236}">
                <a16:creationId xmlns:a16="http://schemas.microsoft.com/office/drawing/2014/main" id="{4D97A05B-2879-465D-9805-DB1A2E801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3" y="1430338"/>
            <a:ext cx="3519487" cy="216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5" descr="m23">
            <a:extLst>
              <a:ext uri="{FF2B5EF4-FFF2-40B4-BE49-F238E27FC236}">
                <a16:creationId xmlns:a16="http://schemas.microsoft.com/office/drawing/2014/main" id="{EF5FBED5-270F-4F50-A242-8C2A72CD6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975" y="4032250"/>
            <a:ext cx="3513138" cy="248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1" name="Picture 85" descr="pip2">
            <a:extLst>
              <a:ext uri="{FF2B5EF4-FFF2-40B4-BE49-F238E27FC236}">
                <a16:creationId xmlns:a16="http://schemas.microsoft.com/office/drawing/2014/main" id="{08C1A607-F198-43D1-B835-7B1BDABC4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399" y="4333360"/>
            <a:ext cx="45624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5" name="Title 1">
            <a:extLst>
              <a:ext uri="{FF2B5EF4-FFF2-40B4-BE49-F238E27FC236}">
                <a16:creationId xmlns:a16="http://schemas.microsoft.com/office/drawing/2014/main" id="{83D134FC-03BF-45A8-A1DD-77788A43D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使用pip安裝Python套件</a:t>
            </a:r>
          </a:p>
        </p:txBody>
      </p:sp>
      <p:sp>
        <p:nvSpPr>
          <p:cNvPr id="11266" name="Oval 8202">
            <a:extLst>
              <a:ext uri="{FF2B5EF4-FFF2-40B4-BE49-F238E27FC236}">
                <a16:creationId xmlns:a16="http://schemas.microsoft.com/office/drawing/2014/main" id="{2A72B872-9AB5-48EE-A560-38A955B8A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267" name="Text Box 8203">
            <a:extLst>
              <a:ext uri="{FF2B5EF4-FFF2-40B4-BE49-F238E27FC236}">
                <a16:creationId xmlns:a16="http://schemas.microsoft.com/office/drawing/2014/main" id="{612649E2-D45E-4641-B7A7-1A4CF2201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5880100"/>
            <a:ext cx="690563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18</a:t>
            </a:r>
          </a:p>
        </p:txBody>
      </p:sp>
      <p:pic>
        <p:nvPicPr>
          <p:cNvPr id="11269" name="Picture 5" descr="m32">
            <a:extLst>
              <a:ext uri="{FF2B5EF4-FFF2-40B4-BE49-F238E27FC236}">
                <a16:creationId xmlns:a16="http://schemas.microsoft.com/office/drawing/2014/main" id="{7E4AAA62-5485-470A-9B6A-60A88D1D7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766" y="6073791"/>
            <a:ext cx="352425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 descr="m29">
            <a:extLst>
              <a:ext uri="{FF2B5EF4-FFF2-40B4-BE49-F238E27FC236}">
                <a16:creationId xmlns:a16="http://schemas.microsoft.com/office/drawing/2014/main" id="{FB434601-9C16-4A35-B54D-5B95FF338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75" y="1284288"/>
            <a:ext cx="6080125" cy="28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BDBCB18-9E59-4A1E-83ED-D2E5BB88F3E9}"/>
              </a:ext>
            </a:extLst>
          </p:cNvPr>
          <p:cNvSpPr/>
          <p:nvPr/>
        </p:nvSpPr>
        <p:spPr>
          <a:xfrm>
            <a:off x="107504" y="1700808"/>
            <a:ext cx="28123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有大量由其他程式設計師開發的模組和</a:t>
            </a:r>
            <a:r>
              <a:rPr lang="zh-TW" altLang="zh-TW" sz="14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套件（</a:t>
            </a:r>
            <a:r>
              <a:rPr lang="en-US" altLang="zh-TW" sz="14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package</a:t>
            </a:r>
            <a:r>
              <a:rPr lang="zh-TW" altLang="zh-TW" sz="14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，收錄在</a:t>
            </a:r>
            <a:r>
              <a:rPr lang="en-US" altLang="zh-TW" sz="14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PyPI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網站（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https://pypi.python.org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FD6C6B-D6CC-42E6-BFEC-6B71179A3AF7}"/>
              </a:ext>
            </a:extLst>
          </p:cNvPr>
          <p:cNvSpPr/>
          <p:nvPr/>
        </p:nvSpPr>
        <p:spPr>
          <a:xfrm>
            <a:off x="6012160" y="4591557"/>
            <a:ext cx="30400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套件可以透過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pip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套件管理員，在終端機（命令提示字元）進行安裝。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4410B5-0549-4F93-A065-C8FCB4020C4D}"/>
              </a:ext>
            </a:extLst>
          </p:cNvPr>
          <p:cNvSpPr/>
          <p:nvPr/>
        </p:nvSpPr>
        <p:spPr>
          <a:xfrm>
            <a:off x="1534616" y="6384172"/>
            <a:ext cx="36904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kern="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esptool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套件可執行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upgrade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參數進行更新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">
            <a:extLst>
              <a:ext uri="{FF2B5EF4-FFF2-40B4-BE49-F238E27FC236}">
                <a16:creationId xmlns:a16="http://schemas.microsoft.com/office/drawing/2014/main" id="{813AE2DD-D6E2-4FD1-9828-247A63EF25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Wemos D1 mini和NodeMCU控制板簡介</a:t>
            </a:r>
          </a:p>
        </p:txBody>
      </p:sp>
      <p:sp>
        <p:nvSpPr>
          <p:cNvPr id="12290" name="Oval 8202">
            <a:extLst>
              <a:ext uri="{FF2B5EF4-FFF2-40B4-BE49-F238E27FC236}">
                <a16:creationId xmlns:a16="http://schemas.microsoft.com/office/drawing/2014/main" id="{C6D90809-FDD4-4298-9E17-31A0A50AD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1" name="Text Box 8203">
            <a:extLst>
              <a:ext uri="{FF2B5EF4-FFF2-40B4-BE49-F238E27FC236}">
                <a16:creationId xmlns:a16="http://schemas.microsoft.com/office/drawing/2014/main" id="{50A3C130-D8C1-4242-B5E1-DB4CE25E6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5880100"/>
            <a:ext cx="690563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21</a:t>
            </a:r>
          </a:p>
        </p:txBody>
      </p:sp>
      <p:sp>
        <p:nvSpPr>
          <p:cNvPr id="12295" name="Text Box 99">
            <a:extLst>
              <a:ext uri="{FF2B5EF4-FFF2-40B4-BE49-F238E27FC236}">
                <a16:creationId xmlns:a16="http://schemas.microsoft.com/office/drawing/2014/main" id="{A218ACBB-594B-43F5-A07E-C43DD5563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2950" y="4978400"/>
            <a:ext cx="5080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TW" sz="1200">
                <a:latin typeface="SimSun" panose="02010600030101010101" pitchFamily="2" charset="-122"/>
                <a:ea typeface="SimSun" panose="02010600030101010101" pitchFamily="2" charset="-122"/>
              </a:rPr>
              <a:t>表1-1</a:t>
            </a:r>
            <a:endParaRPr lang="en-US" altLang="zh-CN">
              <a:ea typeface="SimSun" panose="02010600030101010101" pitchFamily="2" charset="-122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98D0B2-1CB5-4FCE-A169-74B979003D44}"/>
              </a:ext>
            </a:extLst>
          </p:cNvPr>
          <p:cNvGraphicFramePr/>
          <p:nvPr/>
        </p:nvGraphicFramePr>
        <p:xfrm>
          <a:off x="3282950" y="5253038"/>
          <a:ext cx="5630863" cy="1463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8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2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名稱</a:t>
                      </a:r>
                      <a:endParaRPr lang="en-US" sz="1200" b="1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類型</a:t>
                      </a:r>
                      <a:endParaRPr lang="en-US" sz="1200" b="1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容量大小</a:t>
                      </a:r>
                      <a:endParaRPr lang="en-US" sz="1200" b="1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用途</a:t>
                      </a:r>
                      <a:endParaRPr lang="en-US" sz="1200" b="1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SRAM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揮發性（volatile），代表資料在斷電後消失。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64KB（系統使用）+96KB（程式使用）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資料記憶體</a:t>
                      </a: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；暫存程式運作中所需的資料。</a:t>
                      </a:r>
                      <a:endParaRPr lang="en-US" sz="1200" b="1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Flash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非揮發性，代表斷電後，資料仍存在。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4MB</a:t>
                      </a:r>
                      <a:endParaRPr lang="en-US" sz="120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程式記憶體</a:t>
                      </a: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；存放MicroPython韌體和我們自訂的程式碼；MicroPython韌體程式約佔用600KB。</a:t>
                      </a:r>
                      <a:endParaRPr lang="en-US" sz="1200" b="1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318" name="Picture 82" descr="m35">
            <a:extLst>
              <a:ext uri="{FF2B5EF4-FFF2-40B4-BE49-F238E27FC236}">
                <a16:creationId xmlns:a16="http://schemas.microsoft.com/office/drawing/2014/main" id="{2AE22FD1-9143-4EA1-857D-5750532BB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65" y="1474623"/>
            <a:ext cx="4524375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9" name="Picture 73" descr="m36">
            <a:extLst>
              <a:ext uri="{FF2B5EF4-FFF2-40B4-BE49-F238E27FC236}">
                <a16:creationId xmlns:a16="http://schemas.microsoft.com/office/drawing/2014/main" id="{E41F72D0-1BA0-4C27-B0EC-7A393CE5E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60574"/>
            <a:ext cx="45815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0" name="Picture 65" descr="m38">
            <a:extLst>
              <a:ext uri="{FF2B5EF4-FFF2-40B4-BE49-F238E27FC236}">
                <a16:creationId xmlns:a16="http://schemas.microsoft.com/office/drawing/2014/main" id="{1920D2A4-8720-4FAC-B354-39198FCD2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729" y="1712261"/>
            <a:ext cx="4235206" cy="2230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>
            <a:extLst>
              <a:ext uri="{FF2B5EF4-FFF2-40B4-BE49-F238E27FC236}">
                <a16:creationId xmlns:a16="http://schemas.microsoft.com/office/drawing/2014/main" id="{A3B069A9-5C6C-40B4-AE5E-E42C30C04A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下載與安裝USB驅動程式</a:t>
            </a:r>
          </a:p>
        </p:txBody>
      </p:sp>
      <p:sp>
        <p:nvSpPr>
          <p:cNvPr id="13314" name="Oval 8202">
            <a:extLst>
              <a:ext uri="{FF2B5EF4-FFF2-40B4-BE49-F238E27FC236}">
                <a16:creationId xmlns:a16="http://schemas.microsoft.com/office/drawing/2014/main" id="{D1FE4403-3056-4645-AB78-14B7092E9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15" name="Text Box 8203">
            <a:extLst>
              <a:ext uri="{FF2B5EF4-FFF2-40B4-BE49-F238E27FC236}">
                <a16:creationId xmlns:a16="http://schemas.microsoft.com/office/drawing/2014/main" id="{C6CF97A4-6D35-41A7-99BE-6705614B8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5880100"/>
            <a:ext cx="690563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24</a:t>
            </a:r>
          </a:p>
        </p:txBody>
      </p:sp>
      <p:pic>
        <p:nvPicPr>
          <p:cNvPr id="13316" name="Picture 3" descr="m39">
            <a:extLst>
              <a:ext uri="{FF2B5EF4-FFF2-40B4-BE49-F238E27FC236}">
                <a16:creationId xmlns:a16="http://schemas.microsoft.com/office/drawing/2014/main" id="{1995BE8C-8DD9-4D41-9E13-6252B0EA8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94" y="2924944"/>
            <a:ext cx="3094038" cy="210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 descr="m41">
            <a:extLst>
              <a:ext uri="{FF2B5EF4-FFF2-40B4-BE49-F238E27FC236}">
                <a16:creationId xmlns:a16="http://schemas.microsoft.com/office/drawing/2014/main" id="{2F454163-EEF4-4C22-8397-30D2EFF25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924944"/>
            <a:ext cx="4527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D32766-E2CD-4AC3-9AAF-088321E259D4}"/>
              </a:ext>
            </a:extLst>
          </p:cNvPr>
          <p:cNvSpPr/>
          <p:nvPr/>
        </p:nvSpPr>
        <p:spPr>
          <a:xfrm>
            <a:off x="2228057" y="1244600"/>
            <a:ext cx="670401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1400" kern="100" dirty="0">
                <a:effectLst/>
                <a:latin typeface="+mn-ea"/>
              </a:rPr>
              <a:t>初次連接</a:t>
            </a:r>
            <a:r>
              <a:rPr lang="en-US" altLang="zh-TW" sz="1400" kern="100" dirty="0">
                <a:effectLst/>
                <a:latin typeface="+mn-ea"/>
              </a:rPr>
              <a:t>ESP8266</a:t>
            </a:r>
            <a:r>
              <a:rPr lang="zh-TW" altLang="zh-TW" sz="1400" kern="100" dirty="0">
                <a:effectLst/>
                <a:latin typeface="+mn-ea"/>
              </a:rPr>
              <a:t>控制板時，</a:t>
            </a:r>
            <a:r>
              <a:rPr lang="en-US" altLang="zh-TW" sz="1400" kern="100" dirty="0">
                <a:effectLst/>
                <a:latin typeface="+mn-ea"/>
              </a:rPr>
              <a:t>Windows</a:t>
            </a:r>
            <a:r>
              <a:rPr lang="zh-TW" altLang="zh-TW" sz="1400" kern="100" dirty="0">
                <a:effectLst/>
                <a:latin typeface="+mn-ea"/>
              </a:rPr>
              <a:t>系統會自動下載、安裝驅動程式，</a:t>
            </a:r>
            <a:r>
              <a:rPr lang="en-US" altLang="zh-TW" sz="1400" kern="100" dirty="0">
                <a:effectLst/>
                <a:latin typeface="+mn-ea"/>
              </a:rPr>
              <a:t>macOS</a:t>
            </a:r>
            <a:r>
              <a:rPr lang="zh-TW" altLang="zh-TW" sz="1400" kern="100" dirty="0">
                <a:effectLst/>
                <a:latin typeface="+mn-ea"/>
              </a:rPr>
              <a:t>需要手動安裝。</a:t>
            </a:r>
            <a:r>
              <a:rPr lang="en-US" altLang="zh-TW" sz="1400" kern="100" dirty="0" err="1">
                <a:effectLst/>
                <a:latin typeface="+mn-ea"/>
              </a:rPr>
              <a:t>Wemos</a:t>
            </a:r>
            <a:r>
              <a:rPr lang="en-US" altLang="zh-TW" sz="1400" kern="100" dirty="0">
                <a:effectLst/>
                <a:latin typeface="+mn-ea"/>
              </a:rPr>
              <a:t> D1 mini</a:t>
            </a:r>
            <a:r>
              <a:rPr lang="zh-TW" altLang="zh-TW" sz="1400" kern="100" dirty="0">
                <a:effectLst/>
                <a:latin typeface="+mn-ea"/>
              </a:rPr>
              <a:t>板的</a:t>
            </a:r>
            <a:r>
              <a:rPr lang="en-US" altLang="zh-TW" sz="1400" kern="100" dirty="0">
                <a:effectLst/>
                <a:latin typeface="+mn-ea"/>
              </a:rPr>
              <a:t>USB</a:t>
            </a:r>
            <a:r>
              <a:rPr lang="zh-TW" altLang="zh-TW" sz="1400" kern="100" dirty="0">
                <a:effectLst/>
                <a:latin typeface="+mn-ea"/>
              </a:rPr>
              <a:t>序列通訊</a:t>
            </a:r>
            <a:r>
              <a:rPr lang="en-US" altLang="zh-TW" sz="1400" kern="100" dirty="0">
                <a:effectLst/>
                <a:latin typeface="+mn-ea"/>
              </a:rPr>
              <a:t>IC</a:t>
            </a:r>
            <a:r>
              <a:rPr lang="zh-TW" altLang="zh-TW" sz="1400" kern="100" dirty="0">
                <a:effectLst/>
                <a:latin typeface="+mn-ea"/>
              </a:rPr>
              <a:t>的型號與驅動程式下載網址：</a:t>
            </a:r>
          </a:p>
          <a:p>
            <a:pPr>
              <a:spcAft>
                <a:spcPts val="0"/>
              </a:spcAft>
            </a:pPr>
            <a:r>
              <a:rPr lang="en-US" altLang="zh-TW" sz="1400" kern="100" dirty="0">
                <a:effectLst/>
                <a:latin typeface="+mn-ea"/>
              </a:rPr>
              <a:t> </a:t>
            </a:r>
            <a:endParaRPr lang="zh-TW" altLang="zh-TW" sz="1400" kern="100" dirty="0">
              <a:effectLst/>
              <a:latin typeface="+mn-ea"/>
            </a:endParaRPr>
          </a:p>
          <a:p>
            <a:pPr>
              <a:spcAft>
                <a:spcPts val="0"/>
              </a:spcAft>
            </a:pPr>
            <a:r>
              <a:rPr lang="en-US" altLang="zh-TW" sz="1400" kern="100" dirty="0">
                <a:effectLst/>
                <a:latin typeface="+mn-ea"/>
              </a:rPr>
              <a:t>CH340G</a:t>
            </a:r>
            <a:r>
              <a:rPr lang="zh-TW" altLang="zh-TW" sz="1400" kern="100" dirty="0">
                <a:effectLst/>
                <a:latin typeface="+mn-ea"/>
              </a:rPr>
              <a:t>晶片，驅動程式網址：</a:t>
            </a:r>
            <a:r>
              <a:rPr lang="en-US" altLang="zh-TW" sz="1400" u="sng" kern="100" dirty="0">
                <a:solidFill>
                  <a:srgbClr val="0000FF"/>
                </a:solidFill>
                <a:effectLst/>
                <a:latin typeface="+mn-ea"/>
                <a:hlinkClick r:id="rId4"/>
              </a:rPr>
              <a:t>https://goo.gl/</a:t>
            </a:r>
            <a:r>
              <a:rPr lang="en-US" altLang="zh-TW" sz="1400" u="sng" kern="100" dirty="0" err="1">
                <a:solidFill>
                  <a:srgbClr val="0000FF"/>
                </a:solidFill>
                <a:effectLst/>
                <a:latin typeface="+mn-ea"/>
                <a:hlinkClick r:id="rId4"/>
              </a:rPr>
              <a:t>rWhMSL（官方版）或https</a:t>
            </a:r>
            <a:r>
              <a:rPr lang="en-US" altLang="zh-TW" sz="1400" u="sng" kern="100" dirty="0">
                <a:solidFill>
                  <a:srgbClr val="0000FF"/>
                </a:solidFill>
                <a:effectLst/>
                <a:latin typeface="+mn-ea"/>
                <a:hlinkClick r:id="rId4"/>
              </a:rPr>
              <a:t>://goo.gl/YAys6k（非官方Mac版）</a:t>
            </a:r>
            <a:endParaRPr lang="zh-TW" altLang="zh-TW" sz="1400" kern="100" dirty="0"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09C87126-047B-47EF-B2E7-61F3C24A16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24025" y="101600"/>
            <a:ext cx="7240588" cy="1143000"/>
          </a:xfrm>
        </p:spPr>
        <p:txBody>
          <a:bodyPr/>
          <a:lstStyle/>
          <a:p>
            <a:r>
              <a:rPr lang="en-US" altLang="zh-CN"/>
              <a:t>使用Flash下載工具燒錄韌體</a:t>
            </a:r>
          </a:p>
        </p:txBody>
      </p:sp>
      <p:pic>
        <p:nvPicPr>
          <p:cNvPr id="14338" name="Picture 4" descr="m44">
            <a:extLst>
              <a:ext uri="{FF2B5EF4-FFF2-40B4-BE49-F238E27FC236}">
                <a16:creationId xmlns:a16="http://schemas.microsoft.com/office/drawing/2014/main" id="{93948350-C3C4-470B-990D-60B2EFEA8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3194050"/>
            <a:ext cx="3573463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Oval 8202">
            <a:extLst>
              <a:ext uri="{FF2B5EF4-FFF2-40B4-BE49-F238E27FC236}">
                <a16:creationId xmlns:a16="http://schemas.microsoft.com/office/drawing/2014/main" id="{CD4F02BA-E472-4700-907E-1EC07CE1C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340" name="Text Box 8203">
            <a:extLst>
              <a:ext uri="{FF2B5EF4-FFF2-40B4-BE49-F238E27FC236}">
                <a16:creationId xmlns:a16="http://schemas.microsoft.com/office/drawing/2014/main" id="{340A72EA-EBC3-4D63-8640-0BB8801CE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5880100"/>
            <a:ext cx="690563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24</a:t>
            </a:r>
          </a:p>
        </p:txBody>
      </p:sp>
      <p:pic>
        <p:nvPicPr>
          <p:cNvPr id="14341" name="Picture 3" descr="m43">
            <a:extLst>
              <a:ext uri="{FF2B5EF4-FFF2-40B4-BE49-F238E27FC236}">
                <a16:creationId xmlns:a16="http://schemas.microsoft.com/office/drawing/2014/main" id="{0CAE92BC-939D-4BA3-A075-3C0FE1336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1541463"/>
            <a:ext cx="4597400" cy="118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78" descr="m45_1">
            <a:extLst>
              <a:ext uri="{FF2B5EF4-FFF2-40B4-BE49-F238E27FC236}">
                <a16:creationId xmlns:a16="http://schemas.microsoft.com/office/drawing/2014/main" id="{62DCC1CE-282F-4C14-801F-AB0FD91E066A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63882" y="2132806"/>
            <a:ext cx="3527425" cy="4525963"/>
          </a:xfr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FF2A736-7DBB-4706-8496-0C5F757DAA91}"/>
              </a:ext>
            </a:extLst>
          </p:cNvPr>
          <p:cNvSpPr/>
          <p:nvPr/>
        </p:nvSpPr>
        <p:spPr>
          <a:xfrm>
            <a:off x="5362297" y="1541463"/>
            <a:ext cx="30778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kern="100" dirty="0">
                <a:effectLst/>
                <a:latin typeface="+mn-ea"/>
              </a:rPr>
              <a:t>Flash</a:t>
            </a:r>
            <a:r>
              <a:rPr lang="zh-TW" altLang="zh-TW" sz="1400" kern="100" dirty="0">
                <a:effectLst/>
                <a:latin typeface="+mn-ea"/>
                <a:cs typeface="Times New Roman" panose="02020603050405020304" pitchFamily="18" charset="0"/>
              </a:rPr>
              <a:t>下載工具無需安裝即可使用，但是它的所在路徑請不要包含中文</a:t>
            </a:r>
            <a:endParaRPr lang="zh-TW" altLang="en-US" sz="1400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98C317CB-80E8-455F-83EB-40329141B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使用esptool燒錄韌體</a:t>
            </a:r>
          </a:p>
        </p:txBody>
      </p:sp>
      <p:sp>
        <p:nvSpPr>
          <p:cNvPr id="15362" name="Oval 8202">
            <a:extLst>
              <a:ext uri="{FF2B5EF4-FFF2-40B4-BE49-F238E27FC236}">
                <a16:creationId xmlns:a16="http://schemas.microsoft.com/office/drawing/2014/main" id="{87A2C023-B4BF-4AEC-903E-E2B49620B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63" name="Text Box 8203">
            <a:extLst>
              <a:ext uri="{FF2B5EF4-FFF2-40B4-BE49-F238E27FC236}">
                <a16:creationId xmlns:a16="http://schemas.microsoft.com/office/drawing/2014/main" id="{BE160564-B3F9-4E62-9333-1DAEE29EF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5880100"/>
            <a:ext cx="690563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29</a:t>
            </a:r>
          </a:p>
        </p:txBody>
      </p:sp>
      <p:pic>
        <p:nvPicPr>
          <p:cNvPr id="15364" name="Picture 3" descr="m46">
            <a:extLst>
              <a:ext uri="{FF2B5EF4-FFF2-40B4-BE49-F238E27FC236}">
                <a16:creationId xmlns:a16="http://schemas.microsoft.com/office/drawing/2014/main" id="{C9C3D3E5-66BD-4676-8AD5-B07B31950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68" y="2221794"/>
            <a:ext cx="4137025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4" descr="m47">
            <a:extLst>
              <a:ext uri="{FF2B5EF4-FFF2-40B4-BE49-F238E27FC236}">
                <a16:creationId xmlns:a16="http://schemas.microsoft.com/office/drawing/2014/main" id="{D12D6E18-2B59-42DA-B503-0EFD552DC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638" y="2248106"/>
            <a:ext cx="2800350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5" descr="m48">
            <a:extLst>
              <a:ext uri="{FF2B5EF4-FFF2-40B4-BE49-F238E27FC236}">
                <a16:creationId xmlns:a16="http://schemas.microsoft.com/office/drawing/2014/main" id="{633A5C7D-3BE7-4350-AE67-882893FA4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88" y="4063504"/>
            <a:ext cx="4268787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6" descr="m49">
            <a:extLst>
              <a:ext uri="{FF2B5EF4-FFF2-40B4-BE49-F238E27FC236}">
                <a16:creationId xmlns:a16="http://schemas.microsoft.com/office/drawing/2014/main" id="{49BCD194-937A-496F-ABD5-5E44111C9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450" y="3936504"/>
            <a:ext cx="4094163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8088073-3107-4FF7-A225-771495C313F3}"/>
              </a:ext>
            </a:extLst>
          </p:cNvPr>
          <p:cNvSpPr/>
          <p:nvPr/>
        </p:nvSpPr>
        <p:spPr>
          <a:xfrm>
            <a:off x="282575" y="1471587"/>
            <a:ext cx="50266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kern="100" dirty="0" err="1">
                <a:effectLst/>
                <a:latin typeface="+mn-ea"/>
              </a:rPr>
              <a:t>esptool</a:t>
            </a:r>
            <a:r>
              <a:rPr lang="zh-TW" altLang="zh-TW" sz="1400" kern="100" dirty="0">
                <a:effectLst/>
                <a:latin typeface="+mn-ea"/>
                <a:cs typeface="Times New Roman" panose="02020603050405020304" pitchFamily="18" charset="0"/>
              </a:rPr>
              <a:t>是用</a:t>
            </a:r>
            <a:r>
              <a:rPr lang="en-US" altLang="zh-TW" sz="1400" kern="100" dirty="0">
                <a:effectLst/>
                <a:latin typeface="+mn-ea"/>
              </a:rPr>
              <a:t>Python</a:t>
            </a:r>
            <a:r>
              <a:rPr lang="zh-TW" altLang="zh-TW" sz="1400" kern="100" dirty="0">
                <a:effectLst/>
                <a:latin typeface="+mn-ea"/>
                <a:cs typeface="Times New Roman" panose="02020603050405020304" pitchFamily="18" charset="0"/>
              </a:rPr>
              <a:t>語言撰寫的燒錄程式，可在</a:t>
            </a:r>
            <a:r>
              <a:rPr lang="en-US" altLang="zh-TW" sz="1400" kern="100" dirty="0">
                <a:effectLst/>
                <a:latin typeface="+mn-ea"/>
              </a:rPr>
              <a:t>Windows, Mac</a:t>
            </a:r>
            <a:r>
              <a:rPr lang="zh-TW" altLang="zh-TW" sz="1400" kern="100" dirty="0">
                <a:effectLst/>
                <a:latin typeface="+mn-ea"/>
                <a:cs typeface="Times New Roman" panose="02020603050405020304" pitchFamily="18" charset="0"/>
              </a:rPr>
              <a:t>或</a:t>
            </a:r>
            <a:r>
              <a:rPr lang="en-US" altLang="zh-TW" sz="1400" kern="100" dirty="0">
                <a:effectLst/>
                <a:latin typeface="+mn-ea"/>
              </a:rPr>
              <a:t>Linux</a:t>
            </a:r>
            <a:r>
              <a:rPr lang="zh-TW" altLang="zh-TW" sz="1400" kern="100" dirty="0">
                <a:effectLst/>
                <a:latin typeface="+mn-ea"/>
                <a:cs typeface="Times New Roman" panose="02020603050405020304" pitchFamily="18" charset="0"/>
              </a:rPr>
              <a:t>等系統的終端機（命令提示字元）中執行。</a:t>
            </a:r>
            <a:endParaRPr lang="zh-TW" altLang="en-US" sz="1400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E5F7EE-4B68-443D-BAB9-329E474F03C1}"/>
              </a:ext>
            </a:extLst>
          </p:cNvPr>
          <p:cNvSpPr/>
          <p:nvPr/>
        </p:nvSpPr>
        <p:spPr>
          <a:xfrm>
            <a:off x="217489" y="3555532"/>
            <a:ext cx="4066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kern="100" dirty="0">
                <a:latin typeface="+mn-ea"/>
                <a:cs typeface="Times New Roman" panose="02020603050405020304" pitchFamily="18" charset="0"/>
              </a:rPr>
              <a:t>清除記憶體之後，再燒錄</a:t>
            </a:r>
            <a:r>
              <a:rPr lang="en-US" altLang="zh-TW" sz="1400" kern="100" dirty="0">
                <a:latin typeface="+mn-ea"/>
                <a:cs typeface="Times New Roman" panose="02020603050405020304" pitchFamily="18" charset="0"/>
              </a:rPr>
              <a:t>.bin</a:t>
            </a:r>
            <a:r>
              <a:rPr lang="zh-TW" altLang="en-US" sz="1400" kern="100" dirty="0">
                <a:latin typeface="+mn-ea"/>
                <a:cs typeface="Times New Roman" panose="02020603050405020304" pitchFamily="18" charset="0"/>
              </a:rPr>
              <a:t>韌體檔：</a:t>
            </a:r>
            <a:endParaRPr lang="zh-TW" altLang="en-US" sz="1400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2" name="Picture 8" descr="m56">
            <a:extLst>
              <a:ext uri="{FF2B5EF4-FFF2-40B4-BE49-F238E27FC236}">
                <a16:creationId xmlns:a16="http://schemas.microsoft.com/office/drawing/2014/main" id="{4349A33C-61BE-47A0-9DB3-7E099D4E3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100" y="5703888"/>
            <a:ext cx="454025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5" name="Title 1">
            <a:extLst>
              <a:ext uri="{FF2B5EF4-FFF2-40B4-BE49-F238E27FC236}">
                <a16:creationId xmlns:a16="http://schemas.microsoft.com/office/drawing/2014/main" id="{A7FEA12C-344A-4DCD-950F-9D9C593B05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透過終端機操控MicroPython控制板</a:t>
            </a:r>
          </a:p>
        </p:txBody>
      </p:sp>
      <p:sp>
        <p:nvSpPr>
          <p:cNvPr id="16386" name="Oval 8202">
            <a:extLst>
              <a:ext uri="{FF2B5EF4-FFF2-40B4-BE49-F238E27FC236}">
                <a16:creationId xmlns:a16="http://schemas.microsoft.com/office/drawing/2014/main" id="{848A1FF7-AFD9-4849-A0B9-48C92A691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236" y="5810251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6387" name="Text Box 8203">
            <a:extLst>
              <a:ext uri="{FF2B5EF4-FFF2-40B4-BE49-F238E27FC236}">
                <a16:creationId xmlns:a16="http://schemas.microsoft.com/office/drawing/2014/main" id="{D8A87E03-055D-4B5C-94DA-3E89436A4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1436" y="5954713"/>
            <a:ext cx="690563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30</a:t>
            </a:r>
          </a:p>
        </p:txBody>
      </p:sp>
      <p:pic>
        <p:nvPicPr>
          <p:cNvPr id="16388" name="Picture 4" descr="m51">
            <a:extLst>
              <a:ext uri="{FF2B5EF4-FFF2-40B4-BE49-F238E27FC236}">
                <a16:creationId xmlns:a16="http://schemas.microsoft.com/office/drawing/2014/main" id="{C3586AD0-9D59-48C9-A8EB-CF7D9F4BD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185" y="3098915"/>
            <a:ext cx="2870200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 descr="m52">
            <a:extLst>
              <a:ext uri="{FF2B5EF4-FFF2-40B4-BE49-F238E27FC236}">
                <a16:creationId xmlns:a16="http://schemas.microsoft.com/office/drawing/2014/main" id="{431084C0-4720-4460-B8E1-E401BAEF3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13" y="1646238"/>
            <a:ext cx="45212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6" descr="m54">
            <a:extLst>
              <a:ext uri="{FF2B5EF4-FFF2-40B4-BE49-F238E27FC236}">
                <a16:creationId xmlns:a16="http://schemas.microsoft.com/office/drawing/2014/main" id="{DAD69ADA-D3B0-47F5-8893-0C4D9EC8A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450" y="3236913"/>
            <a:ext cx="45339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7" descr="m55">
            <a:extLst>
              <a:ext uri="{FF2B5EF4-FFF2-40B4-BE49-F238E27FC236}">
                <a16:creationId xmlns:a16="http://schemas.microsoft.com/office/drawing/2014/main" id="{AD3C3AFB-4D50-4F3F-8F43-0A62E08DC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450" y="4381500"/>
            <a:ext cx="45339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911C0F9-90E9-4D0E-AAB7-71D7E18839C8}"/>
              </a:ext>
            </a:extLst>
          </p:cNvPr>
          <p:cNvSpPr/>
          <p:nvPr/>
        </p:nvSpPr>
        <p:spPr>
          <a:xfrm>
            <a:off x="717550" y="1546007"/>
            <a:ext cx="34944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MicroPython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控制板就像一個沒有螢幕和鍵盤的小電腦</a:t>
            </a:r>
            <a:endParaRPr lang="en-US" altLang="zh-TW" sz="14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1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終端機軟體，在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上通常使用免費的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PuTTY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Tera Term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macOS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Linux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則使用內建的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screen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736BE50-5698-4E94-A9D7-42A4CB71F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動手做：用Python控制LED閃爍</a:t>
            </a:r>
          </a:p>
        </p:txBody>
      </p:sp>
      <p:sp>
        <p:nvSpPr>
          <p:cNvPr id="17410" name="Oval 8202">
            <a:extLst>
              <a:ext uri="{FF2B5EF4-FFF2-40B4-BE49-F238E27FC236}">
                <a16:creationId xmlns:a16="http://schemas.microsoft.com/office/drawing/2014/main" id="{E2D296AB-6A79-414D-9F61-E56055B2D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1" name="Text Box 8203">
            <a:extLst>
              <a:ext uri="{FF2B5EF4-FFF2-40B4-BE49-F238E27FC236}">
                <a16:creationId xmlns:a16="http://schemas.microsoft.com/office/drawing/2014/main" id="{9F973D12-AFB5-4F1A-8CB7-276374836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5880100"/>
            <a:ext cx="690563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zh-TW" altLang="en-US" b="1">
                <a:solidFill>
                  <a:schemeClr val="bg1"/>
                </a:solidFill>
                <a:latin typeface="微軟正黑體" panose="020B0604030504040204" pitchFamily="34" charset="-120"/>
              </a:rPr>
              <a:t>1-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35</a:t>
            </a:r>
          </a:p>
        </p:txBody>
      </p:sp>
      <p:pic>
        <p:nvPicPr>
          <p:cNvPr id="17412" name="Picture 3" descr="m61">
            <a:extLst>
              <a:ext uri="{FF2B5EF4-FFF2-40B4-BE49-F238E27FC236}">
                <a16:creationId xmlns:a16="http://schemas.microsoft.com/office/drawing/2014/main" id="{BB86C9EB-F02A-4F58-9746-1124FFF08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46" y="2552361"/>
            <a:ext cx="20193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B91A60C-9B53-4531-87FB-16B480BA4B56}"/>
              </a:ext>
            </a:extLst>
          </p:cNvPr>
          <p:cNvSpPr/>
          <p:nvPr/>
        </p:nvSpPr>
        <p:spPr>
          <a:xfrm>
            <a:off x="359789" y="1824038"/>
            <a:ext cx="29986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kern="100" dirty="0">
                <a:effectLst/>
                <a:latin typeface="+mn-ea"/>
              </a:rPr>
              <a:t>ESP8266</a:t>
            </a:r>
            <a:r>
              <a:rPr lang="zh-TW" altLang="zh-TW" sz="1400" kern="100" dirty="0">
                <a:effectLst/>
                <a:latin typeface="+mn-ea"/>
                <a:cs typeface="Times New Roman" panose="02020603050405020304" pitchFamily="18" charset="0"/>
              </a:rPr>
              <a:t>模組上面有內建一個</a:t>
            </a:r>
            <a:r>
              <a:rPr lang="en-US" altLang="zh-TW" sz="1400" kern="100" dirty="0">
                <a:effectLst/>
                <a:latin typeface="+mn-ea"/>
              </a:rPr>
              <a:t>LED</a:t>
            </a:r>
            <a:r>
              <a:rPr lang="zh-TW" altLang="zh-TW" sz="1400" kern="100" dirty="0">
                <a:effectLst/>
                <a:latin typeface="+mn-ea"/>
                <a:cs typeface="Times New Roman" panose="02020603050405020304" pitchFamily="18" charset="0"/>
              </a:rPr>
              <a:t>，接在第</a:t>
            </a:r>
            <a:r>
              <a:rPr lang="en-US" altLang="zh-TW" sz="1400" kern="100" dirty="0">
                <a:effectLst/>
                <a:latin typeface="+mn-ea"/>
              </a:rPr>
              <a:t>2</a:t>
            </a:r>
            <a:r>
              <a:rPr lang="zh-TW" altLang="zh-TW" sz="1400" kern="100" dirty="0">
                <a:effectLst/>
                <a:latin typeface="+mn-ea"/>
                <a:cs typeface="Times New Roman" panose="02020603050405020304" pitchFamily="18" charset="0"/>
              </a:rPr>
              <a:t>腳</a:t>
            </a:r>
            <a:r>
              <a:rPr lang="zh-TW" altLang="en-US" sz="1400" kern="100" dirty="0">
                <a:effectLst/>
                <a:latin typeface="+mn-ea"/>
                <a:cs typeface="Times New Roman" panose="02020603050405020304" pitchFamily="18" charset="0"/>
              </a:rPr>
              <a:t>。</a:t>
            </a:r>
            <a:endParaRPr lang="zh-TW" altLang="en-US" sz="1400" dirty="0">
              <a:latin typeface="+mn-ea"/>
            </a:endParaRPr>
          </a:p>
        </p:txBody>
      </p:sp>
      <p:pic>
        <p:nvPicPr>
          <p:cNvPr id="17416" name="Picture 61" descr="tt20">
            <a:extLst>
              <a:ext uri="{FF2B5EF4-FFF2-40B4-BE49-F238E27FC236}">
                <a16:creationId xmlns:a16="http://schemas.microsoft.com/office/drawing/2014/main" id="{3F1393B7-2ADD-44E0-9939-3440F47AD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591" y="1537633"/>
            <a:ext cx="458152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7" name="Picture 59" descr="tt21">
            <a:extLst>
              <a:ext uri="{FF2B5EF4-FFF2-40B4-BE49-F238E27FC236}">
                <a16:creationId xmlns:a16="http://schemas.microsoft.com/office/drawing/2014/main" id="{3CBDA313-A7DD-4AAB-B7CF-FD86CA8AF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354358"/>
            <a:ext cx="519112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8" name="Picture 61" descr="tt22">
            <a:extLst>
              <a:ext uri="{FF2B5EF4-FFF2-40B4-BE49-F238E27FC236}">
                <a16:creationId xmlns:a16="http://schemas.microsoft.com/office/drawing/2014/main" id="{7DA6C570-DA16-4A6B-8240-E6F93C9AD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1321" y="5859128"/>
            <a:ext cx="458152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Technology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216606"/>
      </a:accent1>
      <a:accent2>
        <a:srgbClr val="669900"/>
      </a:accent2>
      <a:accent3>
        <a:srgbClr val="FFFFFF"/>
      </a:accent3>
      <a:accent4>
        <a:srgbClr val="000000"/>
      </a:accent4>
      <a:accent5>
        <a:srgbClr val="ABB9AA"/>
      </a:accent5>
      <a:accent6>
        <a:srgbClr val="5B8900"/>
      </a:accent6>
      <a:hlink>
        <a:srgbClr val="CC3300"/>
      </a:hlink>
      <a:folHlink>
        <a:srgbClr val="996600"/>
      </a:folHlink>
    </a:clrScheme>
    <a:fontScheme name="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Green Technolog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Technology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Technology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Technology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Technology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Technology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Technology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Technology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Technology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Technology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Technology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Technology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Technology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216606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ABB8AA"/>
        </a:accent5>
        <a:accent6>
          <a:srgbClr val="5C8A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Pages>0</Pages>
  <Words>512</Words>
  <Characters>0</Characters>
  <Application>Microsoft Office PowerPoint</Application>
  <DocSecurity>0</DocSecurity>
  <PresentationFormat>如螢幕大小 (4:3)</PresentationFormat>
  <Lines>0</Lines>
  <Paragraphs>68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33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13</vt:i4>
      </vt:variant>
    </vt:vector>
  </HeadingPairs>
  <TitlesOfParts>
    <vt:vector size="49" baseType="lpstr">
      <vt:lpstr>Arial</vt:lpstr>
      <vt:lpstr>SimSun</vt:lpstr>
      <vt:lpstr>Wingdings</vt:lpstr>
      <vt:lpstr>Arial Black</vt:lpstr>
      <vt:lpstr>Microsoft YaHei</vt:lpstr>
      <vt:lpstr>MS PGothic</vt:lpstr>
      <vt:lpstr>Calibri</vt:lpstr>
      <vt:lpstr>Segoe Light</vt:lpstr>
      <vt:lpstr>Arnprior</vt:lpstr>
      <vt:lpstr>STXihei</vt:lpstr>
      <vt:lpstr>Verdana</vt:lpstr>
      <vt:lpstr>MS UI Gothic</vt:lpstr>
      <vt:lpstr>SimHei</vt:lpstr>
      <vt:lpstr>微软繁黑体</vt:lpstr>
      <vt:lpstr>Gulim</vt:lpstr>
      <vt:lpstr>Times New Roman</vt:lpstr>
      <vt:lpstr>Latha</vt:lpstr>
      <vt:lpstr>STXinwei</vt:lpstr>
      <vt:lpstr>LiSu</vt:lpstr>
      <vt:lpstr>王漢宗中仿宋繁</vt:lpstr>
      <vt:lpstr>微軟正黑體</vt:lpstr>
      <vt:lpstr>新細明體</vt:lpstr>
      <vt:lpstr>華康中黑體(P)</vt:lpstr>
      <vt:lpstr>STCaiyun</vt:lpstr>
      <vt:lpstr>Segoe Print</vt:lpstr>
      <vt:lpstr>微軟正黑體</vt:lpstr>
      <vt:lpstr>ProFontWindows</vt:lpstr>
      <vt:lpstr>Adobe Myungjo Std M</vt:lpstr>
      <vt:lpstr>Arial Unicode MS</vt:lpstr>
      <vt:lpstr>Perfect DOS VGA 437</vt:lpstr>
      <vt:lpstr>Malgun Gothic</vt:lpstr>
      <vt:lpstr>FangSong</vt:lpstr>
      <vt:lpstr>Yu Gothic</vt:lpstr>
      <vt:lpstr>Green Technology</vt:lpstr>
      <vt:lpstr>Custom Design</vt:lpstr>
      <vt:lpstr>Custom Design_2</vt:lpstr>
      <vt:lpstr>PowerPoint 簡報</vt:lpstr>
      <vt:lpstr>第1章 認識MicroPython與ESP8266控制板</vt:lpstr>
      <vt:lpstr>認識MicroPython、pyboard和ESP8266控制板</vt:lpstr>
      <vt:lpstr>電子零組件、模組和擴展板</vt:lpstr>
      <vt:lpstr>認識程式語言</vt:lpstr>
      <vt:lpstr>安裝Python 3</vt:lpstr>
      <vt:lpstr>使用pip安裝Python套件</vt:lpstr>
      <vt:lpstr>Wemos D1 mini和NodeMCU控制板簡介</vt:lpstr>
      <vt:lpstr>下載與安裝USB驅動程式</vt:lpstr>
      <vt:lpstr>使用Flash下載工具燒錄韌體</vt:lpstr>
      <vt:lpstr>使用esptool燒錄韌體</vt:lpstr>
      <vt:lpstr>透過終端機操控MicroPython控制板</vt:lpstr>
      <vt:lpstr>動手做：用Python控制LED閃爍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認識MicroPython與ESP8266控制板</dc:title>
  <dc:subject/>
  <dc:creator>趙英傑</dc:creator>
  <cp:keywords/>
  <dc:description/>
  <cp:lastModifiedBy>Ying-Chieh Chao</cp:lastModifiedBy>
  <cp:revision>33</cp:revision>
  <dcterms:created xsi:type="dcterms:W3CDTF">2013-06-03T22:45:21Z</dcterms:created>
  <dcterms:modified xsi:type="dcterms:W3CDTF">2019-09-12T01:42:24Z</dcterms:modified>
  <cp:category>超圖解 Python 物聯網實作入門：使用 ESP8266 與 MicroPython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1033-10.2.0.6051</vt:lpwstr>
  </property>
</Properties>
</file>