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3" r:id="rId3"/>
  </p:sldMasterIdLst>
  <p:sldIdLst>
    <p:sldId id="256" r:id="rId4"/>
    <p:sldId id="258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64" r:id="rId18"/>
    <p:sldId id="269" r:id="rId19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 showGuides="1">
      <p:cViewPr varScale="1">
        <p:scale>
          <a:sx n="81" d="100"/>
          <a:sy n="81" d="100"/>
        </p:scale>
        <p:origin x="1498" y="62"/>
      </p:cViewPr>
      <p:guideLst>
        <p:guide orient="horz" pos="2160"/>
        <p:guide pos="29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1" descr="micropython_cover_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5925" y="2944813"/>
            <a:ext cx="5715000" cy="3676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9" name="Picture 2" descr="micropython_cover_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125" y="206375"/>
            <a:ext cx="3810000" cy="2419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Picture 3" descr="autho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21625" y="6196013"/>
            <a:ext cx="952500" cy="393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1" name="Picture 4" descr="flag_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302625" y="219075"/>
            <a:ext cx="571500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37760" y="101600"/>
            <a:ext cx="2126853" cy="6024563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1600"/>
            <a:ext cx="6257264" cy="6024563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6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1027"/>
          <p:cNvSpPr>
            <a:spLocks noGrp="1"/>
          </p:cNvSpPr>
          <p:nvPr>
            <p:ph type="body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en-US" altLang="en-US"/>
              <a:t>Click to edit Master text styles</a:t>
            </a:r>
          </a:p>
          <a:p>
            <a:pPr lvl="1" indent="-285750"/>
            <a:r>
              <a:rPr lang="en-US" altLang="en-US"/>
              <a:t>Second level</a:t>
            </a:r>
          </a:p>
          <a:p>
            <a:pPr lvl="2" indent="-228600"/>
            <a:r>
              <a:rPr lang="en-US" altLang="en-US"/>
              <a:t>Third level</a:t>
            </a:r>
          </a:p>
          <a:p>
            <a:pPr lvl="3" indent="-228600"/>
            <a:r>
              <a:rPr lang="en-US" altLang="en-US"/>
              <a:t>Fourth level</a:t>
            </a:r>
          </a:p>
          <a:p>
            <a:pPr lvl="4" indent="-228600"/>
            <a:r>
              <a:rPr lang="en-US" altLang="en-US"/>
              <a:t>Fifth level</a:t>
            </a:r>
          </a:p>
        </p:txBody>
      </p:sp>
      <p:sp>
        <p:nvSpPr>
          <p:cNvPr id="1029" name="Date Placeholder 1028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indent="0">
              <a:defRPr sz="1400">
                <a:solidFill>
                  <a:schemeClr val="bg1"/>
                </a:solidFill>
              </a:defRPr>
            </a:lvl1pPr>
          </a:lstStyle>
          <a:p>
            <a:pPr lvl="0" fontAlgn="base"/>
            <a:endParaRPr lang="en-US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Footer Placeholder 1029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indent="0" algn="ctr">
              <a:defRPr sz="1400">
                <a:solidFill>
                  <a:schemeClr val="bg1"/>
                </a:solidFill>
              </a:defRPr>
            </a:lvl1pPr>
          </a:lstStyle>
          <a:p>
            <a:pPr lvl="0" fontAlgn="base"/>
            <a:endParaRPr lang="en-US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1" name="Slide Number Placeholder 1030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indent="0" algn="r">
              <a:defRPr sz="1400"/>
            </a:lvl1pPr>
          </a:lstStyle>
          <a:p>
            <a:pPr lvl="0" fontAlgn="base"/>
            <a:fld id="{9A0DB2DC-4C9A-4742-B13C-FB6460FD3503}" type="slidenum">
              <a:rPr lang="en-US" alt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‹#›</a:t>
            </a:fld>
            <a:endParaRPr lang="en-US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600" b="0" u="none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074"/>
          <p:cNvSpPr>
            <a:spLocks noGrp="1"/>
          </p:cNvSpPr>
          <p:nvPr>
            <p:ph type="title"/>
          </p:nvPr>
        </p:nvSpPr>
        <p:spPr>
          <a:xfrm>
            <a:off x="684213" y="274638"/>
            <a:ext cx="8002587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3075"/>
          <p:cNvSpPr>
            <a:spLocks noGrp="1"/>
          </p:cNvSpPr>
          <p:nvPr>
            <p:ph type="body"/>
          </p:nvPr>
        </p:nvSpPr>
        <p:spPr>
          <a:xfrm>
            <a:off x="4141788" y="1600200"/>
            <a:ext cx="4546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en-US" altLang="en-US"/>
              <a:t>Click to edit Master text styles</a:t>
            </a:r>
          </a:p>
          <a:p>
            <a:pPr lvl="1" indent="-285750"/>
            <a:r>
              <a:rPr lang="en-US" altLang="en-US"/>
              <a:t>Second level</a:t>
            </a:r>
          </a:p>
          <a:p>
            <a:pPr lvl="2" indent="-228600"/>
            <a:r>
              <a:rPr lang="en-US" altLang="en-US"/>
              <a:t>Third level</a:t>
            </a:r>
          </a:p>
          <a:p>
            <a:pPr lvl="3" indent="-228600"/>
            <a:r>
              <a:rPr lang="en-US" altLang="en-US"/>
              <a:t>Fourth level</a:t>
            </a:r>
          </a:p>
          <a:p>
            <a:pPr lvl="4" indent="-228600"/>
            <a:r>
              <a:rPr lang="en-US" altLang="en-US"/>
              <a:t>Fifth level</a:t>
            </a:r>
          </a:p>
        </p:txBody>
      </p:sp>
      <p:sp>
        <p:nvSpPr>
          <p:cNvPr id="3077" name="Footer Placeholder 3076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en-US" strike="noStrike" noProof="1"/>
          </a:p>
        </p:txBody>
      </p:sp>
      <p:sp>
        <p:nvSpPr>
          <p:cNvPr id="3078" name="Slide Number Placeholder 3077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  <p:pic>
        <p:nvPicPr>
          <p:cNvPr id="2" name="Picture 1" descr="boards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2460" y="1847215"/>
            <a:ext cx="1314450" cy="44323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1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1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1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1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nner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26035" y="-17145"/>
            <a:ext cx="9197340" cy="1253490"/>
          </a:xfrm>
          <a:prstGeom prst="rect">
            <a:avLst/>
          </a:prstGeom>
        </p:spPr>
      </p:pic>
      <p:sp>
        <p:nvSpPr>
          <p:cNvPr id="3075" name="Title 4098"/>
          <p:cNvSpPr>
            <a:spLocks noGrp="1"/>
          </p:cNvSpPr>
          <p:nvPr>
            <p:ph type="title"/>
          </p:nvPr>
        </p:nvSpPr>
        <p:spPr>
          <a:xfrm>
            <a:off x="2195513" y="101600"/>
            <a:ext cx="67691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en-US" altLang="en-US"/>
              <a:t>Click to edit Master title style</a:t>
            </a:r>
          </a:p>
        </p:txBody>
      </p:sp>
      <p:sp>
        <p:nvSpPr>
          <p:cNvPr id="3076" name="Text Placeholder 4099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en-US" altLang="en-US"/>
              <a:t>Click to edit Master text styles</a:t>
            </a:r>
          </a:p>
          <a:p>
            <a:pPr lvl="1" indent="-285750"/>
            <a:r>
              <a:rPr lang="en-US" altLang="en-US"/>
              <a:t>Second level</a:t>
            </a:r>
          </a:p>
          <a:p>
            <a:pPr lvl="2" indent="-228600"/>
            <a:r>
              <a:rPr lang="en-US" altLang="en-US"/>
              <a:t>Third level</a:t>
            </a:r>
          </a:p>
          <a:p>
            <a:pPr lvl="3" indent="-228600"/>
            <a:r>
              <a:rPr lang="en-US" altLang="en-US"/>
              <a:t>Fourth level</a:t>
            </a:r>
          </a:p>
          <a:p>
            <a:pPr lvl="4" indent="-228600"/>
            <a:r>
              <a:rPr lang="en-US" altLang="en-US"/>
              <a:t>Fifth level</a:t>
            </a:r>
          </a:p>
        </p:txBody>
      </p:sp>
      <p:sp>
        <p:nvSpPr>
          <p:cNvPr id="4101" name="Date Placeholder 4100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en-US" strike="noStrike" noProof="1"/>
          </a:p>
        </p:txBody>
      </p:sp>
      <p:sp>
        <p:nvSpPr>
          <p:cNvPr id="4102" name="Footer Placeholder 4101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en-US" strike="noStrike" noProof="1"/>
          </a:p>
        </p:txBody>
      </p:sp>
      <p:sp>
        <p:nvSpPr>
          <p:cNvPr id="4103" name="Slide Number Placeholder 4102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1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7169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TW" altLang="en-US" dirty="0"/>
              <a:t>第</a:t>
            </a:r>
            <a:r>
              <a:rPr lang="en-US" altLang="zh-TW" dirty="0"/>
              <a:t>5</a:t>
            </a:r>
            <a:r>
              <a:rPr lang="zh-TW" altLang="en-US" dirty="0"/>
              <a:t>章 Python程式設計基礎</a:t>
            </a:r>
          </a:p>
        </p:txBody>
      </p:sp>
      <p:sp>
        <p:nvSpPr>
          <p:cNvPr id="6146" name="Text Placeholder 7170"/>
          <p:cNvSpPr>
            <a:spLocks noGrp="1"/>
          </p:cNvSpPr>
          <p:nvPr>
            <p:ph idx="1"/>
          </p:nvPr>
        </p:nvSpPr>
        <p:spPr>
          <a:xfrm>
            <a:off x="2907030" y="1873250"/>
            <a:ext cx="5779770" cy="4526280"/>
          </a:xfrm>
        </p:spPr>
        <p:txBody>
          <a:bodyPr anchor="t"/>
          <a:lstStyle/>
          <a:p>
            <a:pPr>
              <a:lnSpc>
                <a:spcPct val="90000"/>
              </a:lnSpc>
            </a:pPr>
            <a:r>
              <a:rPr lang="zh-TW" altLang="en-US" sz="2800" dirty="0"/>
              <a:t>變數與資料類型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建立自訂函式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處理文字訊息：認識字元與字串資料類型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列表（List）類型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元組（tuple）與其他循序型資料操作指令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字典（dictionary）類型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認識數字系統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1024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TW" altLang="en-US" dirty="0"/>
              <a:t>變數與資料類型</a:t>
            </a:r>
          </a:p>
        </p:txBody>
      </p:sp>
      <p:sp>
        <p:nvSpPr>
          <p:cNvPr id="7172" name="Oval 8202"/>
          <p:cNvSpPr/>
          <p:nvPr/>
        </p:nvSpPr>
        <p:spPr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50691" y="5880100"/>
            <a:ext cx="6400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5-2</a:t>
            </a:r>
          </a:p>
        </p:txBody>
      </p:sp>
      <p:sp>
        <p:nvSpPr>
          <p:cNvPr id="100" name="Text Box 99"/>
          <p:cNvSpPr txBox="1"/>
          <p:nvPr/>
        </p:nvSpPr>
        <p:spPr>
          <a:xfrm>
            <a:off x="2459355" y="1352233"/>
            <a:ext cx="5080000" cy="1753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66700" indent="-266700"/>
            <a:r>
              <a:rPr sz="1200" b="1">
                <a:latin typeface="Wingdings" panose="05000000000000000000" charset="0"/>
                <a:cs typeface="Wingdings" panose="05000000000000000000" charset="0"/>
              </a:rPr>
              <a:t>l </a:t>
            </a:r>
            <a:r>
              <a:rPr sz="1200" b="1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布林（boolean）</a:t>
            </a:r>
            <a:r>
              <a:rPr sz="1200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：可能值為</a:t>
            </a:r>
            <a:r>
              <a:rPr sz="1200" b="1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True</a:t>
            </a:r>
            <a:r>
              <a:rPr sz="1200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（成立）或</a:t>
            </a:r>
            <a:r>
              <a:rPr sz="1200" b="1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False</a:t>
            </a:r>
            <a:r>
              <a:rPr sz="1200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（不成立）。</a:t>
            </a:r>
          </a:p>
          <a:p>
            <a:pPr marL="266700" indent="-266700"/>
            <a:r>
              <a:rPr sz="1200" b="1">
                <a:latin typeface="Wingdings" panose="05000000000000000000" charset="0"/>
                <a:cs typeface="Wingdings" panose="05000000000000000000" charset="0"/>
              </a:rPr>
              <a:t>l </a:t>
            </a:r>
            <a:r>
              <a:rPr sz="1200" b="1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數字（number）</a:t>
            </a:r>
            <a:r>
              <a:rPr sz="1200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：</a:t>
            </a:r>
            <a:r>
              <a:rPr sz="1200" b="1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整數（int）</a:t>
            </a:r>
            <a:r>
              <a:rPr sz="1200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或</a:t>
            </a:r>
            <a:r>
              <a:rPr sz="1200" b="1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浮點數字</a:t>
            </a:r>
            <a:r>
              <a:rPr sz="1200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（</a:t>
            </a:r>
            <a:r>
              <a:rPr sz="1200" b="1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float</a:t>
            </a:r>
            <a:r>
              <a:rPr sz="1200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，也就是包含小數點的數字）。</a:t>
            </a:r>
          </a:p>
          <a:p>
            <a:pPr marL="266700" indent="-266700"/>
            <a:r>
              <a:rPr sz="1200" b="1">
                <a:latin typeface="Wingdings" panose="05000000000000000000" charset="0"/>
                <a:cs typeface="Wingdings" panose="05000000000000000000" charset="0"/>
              </a:rPr>
              <a:t>l </a:t>
            </a:r>
            <a:r>
              <a:rPr sz="1200" b="1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字串（string）</a:t>
            </a:r>
            <a:r>
              <a:rPr sz="1200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：單一字元或者一連串文字</a:t>
            </a:r>
          </a:p>
          <a:p>
            <a:pPr marL="266700" indent="-266700"/>
            <a:r>
              <a:rPr sz="1200" b="1">
                <a:latin typeface="Wingdings" panose="05000000000000000000" charset="0"/>
                <a:cs typeface="Wingdings" panose="05000000000000000000" charset="0"/>
              </a:rPr>
              <a:t>l </a:t>
            </a:r>
            <a:r>
              <a:rPr sz="1200" b="1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位元組（byte或byte array）</a:t>
            </a:r>
            <a:r>
              <a:rPr sz="1200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：網路資料或檔案</a:t>
            </a:r>
          </a:p>
          <a:p>
            <a:pPr marL="266700" indent="-266700"/>
            <a:r>
              <a:rPr sz="1200" b="1">
                <a:latin typeface="Wingdings" panose="05000000000000000000" charset="0"/>
                <a:cs typeface="Wingdings" panose="05000000000000000000" charset="0"/>
              </a:rPr>
              <a:t>l </a:t>
            </a:r>
            <a:r>
              <a:rPr sz="1200" b="1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列表（list）</a:t>
            </a:r>
            <a:r>
              <a:rPr sz="1200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：一組依編號排列的資料</a:t>
            </a:r>
          </a:p>
          <a:p>
            <a:pPr marL="266700" indent="-266700"/>
            <a:r>
              <a:rPr sz="1200" b="1">
                <a:latin typeface="Wingdings" panose="05000000000000000000" charset="0"/>
                <a:cs typeface="Wingdings" panose="05000000000000000000" charset="0"/>
              </a:rPr>
              <a:t>l </a:t>
            </a:r>
            <a:r>
              <a:rPr sz="1200" b="1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元組（tuple）</a:t>
            </a:r>
            <a:r>
              <a:rPr sz="1200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：一組依編號排列、其值不可更改的資料。</a:t>
            </a:r>
          </a:p>
          <a:p>
            <a:pPr marL="266700" indent="-266700"/>
            <a:r>
              <a:rPr sz="1200" b="1">
                <a:latin typeface="Wingdings" panose="05000000000000000000" charset="0"/>
                <a:cs typeface="Wingdings" panose="05000000000000000000" charset="0"/>
              </a:rPr>
              <a:t>l </a:t>
            </a:r>
            <a:r>
              <a:rPr sz="1200" b="1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集合（set）</a:t>
            </a:r>
            <a:r>
              <a:rPr sz="1200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：無排列順序且內容不重複的一組資料</a:t>
            </a:r>
          </a:p>
          <a:p>
            <a:pPr marL="266700" indent="-266700"/>
            <a:r>
              <a:rPr sz="1200" b="1">
                <a:latin typeface="Wingdings" panose="05000000000000000000" charset="0"/>
                <a:cs typeface="Wingdings" panose="05000000000000000000" charset="0"/>
              </a:rPr>
              <a:t>l </a:t>
            </a:r>
            <a:r>
              <a:rPr sz="1200" b="1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字典（dictionary）</a:t>
            </a:r>
            <a:r>
              <a:rPr sz="1200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：依索引名稱儲存的資料組合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2175510" y="3309620"/>
            <a:ext cx="5080000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sz="1200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表5-1</a:t>
            </a:r>
            <a:endParaRPr lang="en-US"/>
          </a:p>
        </p:txBody>
      </p:sp>
      <p:graphicFrame>
        <p:nvGraphicFramePr>
          <p:cNvPr id="5" name="Table 4"/>
          <p:cNvGraphicFramePr/>
          <p:nvPr/>
        </p:nvGraphicFramePr>
        <p:xfrm>
          <a:off x="2175510" y="3585210"/>
          <a:ext cx="5630863" cy="2011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1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運算子</a:t>
                      </a:r>
                      <a:endParaRPr lang="en-US" sz="1200" b="1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說明</a:t>
                      </a:r>
                      <a:endParaRPr lang="en-US" sz="1200" b="1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範例</a:t>
                      </a:r>
                      <a:endParaRPr lang="en-US" sz="1200" b="1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+=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相加指定；左右兩邊相加之後的值，再指定給左邊。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a += b 等同 a = a + b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-=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相減指定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a -= b 等同 a = a - b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*=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相乘指定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a *= b 等同 a = a * b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/=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相除指定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a /= b 等同 a = a / b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%=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餘除指定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a %= b 等同 a = a % b </a:t>
                      </a:r>
                      <a:r>
                        <a:rPr sz="1200" b="1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%餘除運算子</a:t>
                      </a: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用於取得相除後的餘數，例如，9 % 6的結果為3。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**=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指數指定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a **= b 等同 a = a ** b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//=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整除指定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a //= b 等同 a = a // b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2175510" y="5580380"/>
            <a:ext cx="5080000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sz="1200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表5-2</a:t>
            </a:r>
            <a:endParaRPr lang="en-US"/>
          </a:p>
        </p:txBody>
      </p:sp>
      <p:graphicFrame>
        <p:nvGraphicFramePr>
          <p:cNvPr id="7" name="Table 6"/>
          <p:cNvGraphicFramePr/>
          <p:nvPr/>
        </p:nvGraphicFramePr>
        <p:xfrm>
          <a:off x="2175510" y="5855970"/>
          <a:ext cx="5630863" cy="7315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1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指令</a:t>
                      </a:r>
                      <a:endParaRPr lang="en-US" sz="1200" b="1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說明</a:t>
                      </a:r>
                      <a:endParaRPr lang="en-US" sz="1200" b="1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範例</a:t>
                      </a:r>
                      <a:endParaRPr lang="en-US" sz="1200" b="1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abs()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取絕對值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abs(-8) 的結果是8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min()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取最小值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min(5, 13, 7, 4) 的結果是4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max()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取最大值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max(5, 13, 7, 4) 的結果是13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建立自訂函式</a:t>
            </a:r>
          </a:p>
        </p:txBody>
      </p:sp>
      <p:sp>
        <p:nvSpPr>
          <p:cNvPr id="7172" name="Oval 8202"/>
          <p:cNvSpPr/>
          <p:nvPr/>
        </p:nvSpPr>
        <p:spPr>
          <a:xfrm>
            <a:off x="483017" y="2098935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584458" y="2243397"/>
            <a:ext cx="6400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5-4</a:t>
            </a:r>
          </a:p>
        </p:txBody>
      </p:sp>
      <p:pic>
        <p:nvPicPr>
          <p:cNvPr id="6" name="Picture 5" descr="5_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4825615"/>
            <a:ext cx="4248150" cy="18351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53254A3-3871-43A9-85F0-9DCAAABA6AE0}"/>
              </a:ext>
            </a:extLst>
          </p:cNvPr>
          <p:cNvSpPr/>
          <p:nvPr/>
        </p:nvSpPr>
        <p:spPr>
          <a:xfrm>
            <a:off x="370954" y="148898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函式（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function</a:t>
            </a: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代表一段</a:t>
            </a: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可重複使用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的程式碼。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Picture 31" descr="s2">
            <a:extLst>
              <a:ext uri="{FF2B5EF4-FFF2-40B4-BE49-F238E27FC236}">
                <a16:creationId xmlns:a16="http://schemas.microsoft.com/office/drawing/2014/main" id="{1854C3CB-5538-4574-A673-6CF484DA498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765564" y="1908377"/>
            <a:ext cx="5073650" cy="24193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95E1366-503F-4FA7-9EFB-07FF70893137}"/>
              </a:ext>
            </a:extLst>
          </p:cNvPr>
          <p:cNvSpPr/>
          <p:nvPr/>
        </p:nvSpPr>
        <p:spPr>
          <a:xfrm>
            <a:off x="5412792" y="4825615"/>
            <a:ext cx="36969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包裝成函式的程式碼不會被立即執行，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它會留在記憶體裡等待被叫到名字時執行。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" name="Picture 7" descr="m6">
            <a:extLst>
              <a:ext uri="{FF2B5EF4-FFF2-40B4-BE49-F238E27FC236}">
                <a16:creationId xmlns:a16="http://schemas.microsoft.com/office/drawing/2014/main" id="{4580131B-7B01-40DB-92A6-23FE45DFECE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572125" y="5462279"/>
            <a:ext cx="4392488" cy="12627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設定自訂函式的引數（參數）與傳回值</a:t>
            </a:r>
          </a:p>
        </p:txBody>
      </p:sp>
      <p:sp>
        <p:nvSpPr>
          <p:cNvPr id="7172" name="Oval 8202"/>
          <p:cNvSpPr/>
          <p:nvPr/>
        </p:nvSpPr>
        <p:spPr>
          <a:xfrm>
            <a:off x="320177" y="362890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21618" y="3773370"/>
            <a:ext cx="6400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5-6</a:t>
            </a:r>
          </a:p>
        </p:txBody>
      </p:sp>
      <p:pic>
        <p:nvPicPr>
          <p:cNvPr id="4" name="Picture 3" descr="5_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875" y="1718945"/>
            <a:ext cx="4413250" cy="1187450"/>
          </a:xfrm>
          <a:prstGeom prst="rect">
            <a:avLst/>
          </a:prstGeom>
        </p:spPr>
      </p:pic>
      <p:pic>
        <p:nvPicPr>
          <p:cNvPr id="6" name="Picture 5" descr="5_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694" y="3429000"/>
            <a:ext cx="4178300" cy="12890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3770D92-1CA7-4E4E-8F90-A8AC888E0497}"/>
              </a:ext>
            </a:extLst>
          </p:cNvPr>
          <p:cNvSpPr/>
          <p:nvPr/>
        </p:nvSpPr>
        <p:spPr>
          <a:xfrm>
            <a:off x="306705" y="1943338"/>
            <a:ext cx="390525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函式就像計算機上的功能鍵，使用者即使不知道計算公式為何，只要輸入數字，就能得到正確的結果，而且功能鍵可以被一再地使用。</a:t>
            </a:r>
            <a:endParaRPr lang="zh-TW" altLang="zh-TW" sz="1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8" name="Picture 11" descr="c7">
            <a:extLst>
              <a:ext uri="{FF2B5EF4-FFF2-40B4-BE49-F238E27FC236}">
                <a16:creationId xmlns:a16="http://schemas.microsoft.com/office/drawing/2014/main" id="{A1DB91C1-4A45-432C-89F2-305F583412C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630384" y="5226090"/>
            <a:ext cx="3460750" cy="1543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98FCCF4-0E0A-40E1-8BD5-903F80EB7292}"/>
              </a:ext>
            </a:extLst>
          </p:cNvPr>
          <p:cNvSpPr/>
          <p:nvPr/>
        </p:nvSpPr>
        <p:spPr>
          <a:xfrm>
            <a:off x="242885" y="5284649"/>
            <a:ext cx="39052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return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有「傳回」的意思，也代表「終結執行」，凡是寫在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return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後面的敘述永遠不會被執行：</a:t>
            </a:r>
            <a:endParaRPr lang="zh-TW" altLang="zh-TW" sz="1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認識變數的有效範圍</a:t>
            </a:r>
          </a:p>
        </p:txBody>
      </p:sp>
      <p:sp>
        <p:nvSpPr>
          <p:cNvPr id="7172" name="Oval 8202"/>
          <p:cNvSpPr/>
          <p:nvPr/>
        </p:nvSpPr>
        <p:spPr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50691" y="5880100"/>
            <a:ext cx="6400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5-8</a:t>
            </a:r>
          </a:p>
        </p:txBody>
      </p:sp>
      <p:pic>
        <p:nvPicPr>
          <p:cNvPr id="4" name="Picture 3" descr="5_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1471930"/>
            <a:ext cx="4572000" cy="1492250"/>
          </a:xfrm>
          <a:prstGeom prst="rect">
            <a:avLst/>
          </a:prstGeom>
        </p:spPr>
      </p:pic>
      <p:pic>
        <p:nvPicPr>
          <p:cNvPr id="5" name="Picture 4" descr="5_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480" y="3422015"/>
            <a:ext cx="4432300" cy="14922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99531D6-4171-435C-8501-A9BCF94E8565}"/>
              </a:ext>
            </a:extLst>
          </p:cNvPr>
          <p:cNvSpPr/>
          <p:nvPr/>
        </p:nvSpPr>
        <p:spPr>
          <a:xfrm>
            <a:off x="107504" y="1479745"/>
            <a:ext cx="351013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函式區塊之中</a:t>
            </a:r>
            <a:r>
              <a:rPr lang="zh-CN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宣告的變數，屬於</a:t>
            </a:r>
            <a:r>
              <a:rPr lang="zh-CN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區域變數</a:t>
            </a:r>
            <a:r>
              <a:rPr lang="zh-CN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，代表它的有效範圍僅限於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函式</a:t>
            </a:r>
            <a:r>
              <a:rPr lang="zh-CN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內部，而且只有在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函式</a:t>
            </a:r>
            <a:r>
              <a:rPr lang="zh-CN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執行期間才存在；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75F680-1A50-4776-8649-79556ED1BAC3}"/>
              </a:ext>
            </a:extLst>
          </p:cNvPr>
          <p:cNvSpPr/>
          <p:nvPr/>
        </p:nvSpPr>
        <p:spPr>
          <a:xfrm>
            <a:off x="107504" y="3607691"/>
            <a:ext cx="35101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在函式外面定義的變數稱為「全域（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global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）變數」，能被所有程式碼存取。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" name="Picture 72" descr="c25">
            <a:extLst>
              <a:ext uri="{FF2B5EF4-FFF2-40B4-BE49-F238E27FC236}">
                <a16:creationId xmlns:a16="http://schemas.microsoft.com/office/drawing/2014/main" id="{5F483076-5054-45EA-8666-DCAD25CF82B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483768" y="5372100"/>
            <a:ext cx="5238750" cy="1308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自訂程式庫與常數定義</a:t>
            </a:r>
          </a:p>
        </p:txBody>
      </p:sp>
      <p:sp>
        <p:nvSpPr>
          <p:cNvPr id="7172" name="Oval 8202"/>
          <p:cNvSpPr/>
          <p:nvPr/>
        </p:nvSpPr>
        <p:spPr>
          <a:xfrm>
            <a:off x="353296" y="4005064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54737" y="4149526"/>
            <a:ext cx="6400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5-9</a:t>
            </a:r>
          </a:p>
        </p:txBody>
      </p:sp>
      <p:pic>
        <p:nvPicPr>
          <p:cNvPr id="5" name="Picture 4" descr="5_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1603375"/>
            <a:ext cx="2927350" cy="641350"/>
          </a:xfrm>
          <a:prstGeom prst="rect">
            <a:avLst/>
          </a:prstGeom>
        </p:spPr>
      </p:pic>
      <p:pic>
        <p:nvPicPr>
          <p:cNvPr id="7" name="Picture 6" descr="5_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0" y="5787390"/>
            <a:ext cx="4578350" cy="6921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BD75485-84FA-48AD-B43D-E7B53EDD1B5B}"/>
              </a:ext>
            </a:extLst>
          </p:cNvPr>
          <p:cNvSpPr/>
          <p:nvPr/>
        </p:nvSpPr>
        <p:spPr>
          <a:xfrm>
            <a:off x="251520" y="1653550"/>
            <a:ext cx="37444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接腳編號是固定、恆常不變的值，這種資料值在程式中稱為</a:t>
            </a: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常數（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constant</a:t>
            </a: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Picture 95" descr="s3">
            <a:extLst>
              <a:ext uri="{FF2B5EF4-FFF2-40B4-BE49-F238E27FC236}">
                <a16:creationId xmlns:a16="http://schemas.microsoft.com/office/drawing/2014/main" id="{1CCE6EC8-A608-4F41-9B57-11434FAB99B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712726" y="2653675"/>
            <a:ext cx="5271770" cy="289242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9DD6DB20-3A3F-4DF1-9B70-0BD1642C0D34}"/>
              </a:ext>
            </a:extLst>
          </p:cNvPr>
          <p:cNvSpPr/>
          <p:nvPr/>
        </p:nvSpPr>
        <p:spPr>
          <a:xfrm>
            <a:off x="190718" y="2921834"/>
            <a:ext cx="32713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Python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程式庫」或者說「程式模組」，就是一個獨立的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Python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程式檔。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F81342-375D-4C65-A129-1225BC2D31AF}"/>
              </a:ext>
            </a:extLst>
          </p:cNvPr>
          <p:cNvSpPr/>
          <p:nvPr/>
        </p:nvSpPr>
        <p:spPr>
          <a:xfrm>
            <a:off x="338877" y="5759941"/>
            <a:ext cx="32713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建立命名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MINI.py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的程式檔，上傳之後，就能在終端機引用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MINI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模組了。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字元編碼與控制字元</a:t>
            </a:r>
            <a:endParaRPr lang="en-US" dirty="0"/>
          </a:p>
        </p:txBody>
      </p:sp>
      <p:sp>
        <p:nvSpPr>
          <p:cNvPr id="7172" name="Oval 8202"/>
          <p:cNvSpPr/>
          <p:nvPr/>
        </p:nvSpPr>
        <p:spPr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25926" y="5880100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5-14</a:t>
            </a:r>
          </a:p>
        </p:txBody>
      </p:sp>
      <p:pic>
        <p:nvPicPr>
          <p:cNvPr id="4" name="Picture 3" descr="5_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84" y="1974422"/>
            <a:ext cx="4610100" cy="1822450"/>
          </a:xfrm>
          <a:prstGeom prst="rect">
            <a:avLst/>
          </a:prstGeom>
        </p:spPr>
      </p:pic>
      <p:pic>
        <p:nvPicPr>
          <p:cNvPr id="5" name="Picture 4" descr="5_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50" y="4581128"/>
            <a:ext cx="4343400" cy="933450"/>
          </a:xfrm>
          <a:prstGeom prst="rect">
            <a:avLst/>
          </a:prstGeom>
        </p:spPr>
      </p:pic>
      <p:pic>
        <p:nvPicPr>
          <p:cNvPr id="6" name="Picture 5" descr="5_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695" y="5791200"/>
            <a:ext cx="3892550" cy="965200"/>
          </a:xfrm>
          <a:prstGeom prst="rect">
            <a:avLst/>
          </a:prstGeom>
        </p:spPr>
      </p:pic>
      <p:sp>
        <p:nvSpPr>
          <p:cNvPr id="100" name="Text Box 99"/>
          <p:cNvSpPr txBox="1"/>
          <p:nvPr/>
        </p:nvSpPr>
        <p:spPr>
          <a:xfrm>
            <a:off x="5179695" y="2060848"/>
            <a:ext cx="3415030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200"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表5-3</a:t>
            </a:r>
            <a:endParaRPr lang="en-US"/>
          </a:p>
        </p:txBody>
      </p:sp>
      <p:graphicFrame>
        <p:nvGraphicFramePr>
          <p:cNvPr id="3" name="Table 2"/>
          <p:cNvGraphicFramePr/>
          <p:nvPr>
            <p:extLst>
              <p:ext uri="{D42A27DB-BD31-4B8C-83A1-F6EECF244321}">
                <p14:modId xmlns:p14="http://schemas.microsoft.com/office/powerpoint/2010/main" val="1217499393"/>
              </p:ext>
            </p:extLst>
          </p:nvPr>
        </p:nvGraphicFramePr>
        <p:xfrm>
          <a:off x="5179695" y="2336438"/>
          <a:ext cx="3785235" cy="12801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5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6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控制字元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ASCII編碼（16進位）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程式寫法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說明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CR (Carriage Return)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0d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\r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歸位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LF (Line Feed)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0a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\n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新行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dirty="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Tab</a:t>
                      </a:r>
                      <a:endParaRPr lang="en-US" sz="1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09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\t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定位鍵</a:t>
                      </a:r>
                      <a:endParaRPr lang="en-US" sz="1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5179695" y="3889468"/>
            <a:ext cx="3531870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200"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表5-4</a:t>
            </a:r>
            <a:endParaRPr lang="en-US"/>
          </a:p>
        </p:txBody>
      </p:sp>
      <p:graphicFrame>
        <p:nvGraphicFramePr>
          <p:cNvPr id="8" name="Table 7"/>
          <p:cNvGraphicFramePr/>
          <p:nvPr>
            <p:extLst>
              <p:ext uri="{D42A27DB-BD31-4B8C-83A1-F6EECF244321}">
                <p14:modId xmlns:p14="http://schemas.microsoft.com/office/powerpoint/2010/main" val="318816001"/>
              </p:ext>
            </p:extLst>
          </p:nvPr>
        </p:nvGraphicFramePr>
        <p:xfrm>
          <a:off x="5179695" y="4165058"/>
          <a:ext cx="3761740" cy="12801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7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轉義字元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說明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\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放在行尾，代表「續行」。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\\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反斜線符號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\'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單引號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\"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雙引號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\x○○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字元的16進制碼，例如\x0A或\x0a代表「新行」字元。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E8D3CC2B-4841-4770-83B0-1C555FC53360}"/>
              </a:ext>
            </a:extLst>
          </p:cNvPr>
          <p:cNvSpPr/>
          <p:nvPr/>
        </p:nvSpPr>
        <p:spPr>
          <a:xfrm>
            <a:off x="247044" y="1347901"/>
            <a:ext cx="38925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 panose="02010600030101010101" pitchFamily="2" charset="-122"/>
              </a:rPr>
              <a:t>目前</a:t>
            </a:r>
            <a:r>
              <a:rPr lang="zh-CN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 panose="02010600030101010101" pitchFamily="2" charset="-122"/>
              </a:rPr>
              <a:t>最通用的標準文∕數字編碼，簡稱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 panose="02010600030101010101" pitchFamily="2" charset="-122"/>
              </a:rPr>
              <a:t>ASCII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 panose="02010600030101010101" pitchFamily="2" charset="-122"/>
              </a:rPr>
              <a:t>，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SimSun" panose="02010600030101010101" pitchFamily="2" charset="-122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 panose="02010600030101010101" pitchFamily="2" charset="-122"/>
              </a:rPr>
              <a:t>以及</a:t>
            </a: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 panose="02010600030101010101" pitchFamily="2" charset="-122"/>
              </a:rPr>
              <a:t>支援多國語系的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 panose="02010600030101010101" pitchFamily="2" charset="-122"/>
              </a:rPr>
              <a:t>Unicode</a:t>
            </a: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 panose="02010600030101010101" pitchFamily="2" charset="-122"/>
              </a:rPr>
              <a:t>編碼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 panose="02010600030101010101" pitchFamily="2" charset="-122"/>
              </a:rPr>
              <a:t>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5CEECB8-0219-4316-8425-4AC233887FFE}"/>
              </a:ext>
            </a:extLst>
          </p:cNvPr>
          <p:cNvSpPr/>
          <p:nvPr/>
        </p:nvSpPr>
        <p:spPr>
          <a:xfrm>
            <a:off x="235238" y="4112524"/>
            <a:ext cx="44456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 panose="02010600030101010101" pitchFamily="2" charset="-122"/>
              </a:rPr>
              <a:t>反斜線符號在字串中代表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 panose="02010600030101010101" pitchFamily="2" charset="-122"/>
              </a:rPr>
              <a:t>轉義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 panose="02010600030101010101" pitchFamily="2" charset="-122"/>
              </a:rPr>
              <a:t>，也就是插入特殊字元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連接字串與儲存多行文字</a:t>
            </a:r>
          </a:p>
        </p:txBody>
      </p:sp>
      <p:sp>
        <p:nvSpPr>
          <p:cNvPr id="7172" name="Oval 8202"/>
          <p:cNvSpPr/>
          <p:nvPr/>
        </p:nvSpPr>
        <p:spPr>
          <a:xfrm>
            <a:off x="8098582" y="4413867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8175258" y="4558329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5-17</a:t>
            </a:r>
          </a:p>
        </p:txBody>
      </p:sp>
      <p:pic>
        <p:nvPicPr>
          <p:cNvPr id="8" name="Picture 7" descr="5_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913" y="1420390"/>
            <a:ext cx="4502150" cy="311150"/>
          </a:xfrm>
          <a:prstGeom prst="rect">
            <a:avLst/>
          </a:prstGeom>
        </p:spPr>
      </p:pic>
      <p:pic>
        <p:nvPicPr>
          <p:cNvPr id="9" name="Picture 8" descr="5_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15" y="2563340"/>
            <a:ext cx="4136390" cy="1017905"/>
          </a:xfrm>
          <a:prstGeom prst="rect">
            <a:avLst/>
          </a:prstGeom>
        </p:spPr>
      </p:pic>
      <p:pic>
        <p:nvPicPr>
          <p:cNvPr id="10" name="Picture 9" descr="5_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640" y="2621761"/>
            <a:ext cx="4225290" cy="901065"/>
          </a:xfrm>
          <a:prstGeom prst="rect">
            <a:avLst/>
          </a:prstGeom>
        </p:spPr>
      </p:pic>
      <p:pic>
        <p:nvPicPr>
          <p:cNvPr id="11" name="Picture 10" descr="5_33_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1307" y="3993079"/>
            <a:ext cx="3892550" cy="1270000"/>
          </a:xfrm>
          <a:prstGeom prst="rect">
            <a:avLst/>
          </a:prstGeom>
        </p:spPr>
      </p:pic>
      <p:pic>
        <p:nvPicPr>
          <p:cNvPr id="12" name="Picture 11" descr="5_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8728" y="5643563"/>
            <a:ext cx="4610100" cy="10477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BD0BBEA-5128-49B2-817A-B38A1B8DEFC7}"/>
              </a:ext>
            </a:extLst>
          </p:cNvPr>
          <p:cNvSpPr/>
          <p:nvPr/>
        </p:nvSpPr>
        <p:spPr>
          <a:xfrm>
            <a:off x="1994143" y="1423763"/>
            <a:ext cx="18004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</a:t>
            </a: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加號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串接多個字串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6E3057-A75B-4F7C-A08B-E85C21B72933}"/>
              </a:ext>
            </a:extLst>
          </p:cNvPr>
          <p:cNvSpPr/>
          <p:nvPr/>
        </p:nvSpPr>
        <p:spPr>
          <a:xfrm>
            <a:off x="196215" y="2079773"/>
            <a:ext cx="26981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sz="1400" dirty="0">
                <a:latin typeface="+mj-lt"/>
              </a:rPr>
              <a:t>用</a:t>
            </a:r>
            <a:r>
              <a:rPr lang="zh-TW" altLang="zh-TW" sz="1400" b="1" dirty="0">
                <a:latin typeface="+mj-lt"/>
              </a:rPr>
              <a:t>三個連續單引號</a:t>
            </a:r>
            <a:r>
              <a:rPr lang="zh-TW" altLang="zh-TW" sz="1400" dirty="0">
                <a:latin typeface="+mj-lt"/>
              </a:rPr>
              <a:t>包圍多行文字</a:t>
            </a:r>
            <a:endParaRPr lang="zh-TW" altLang="en-US" sz="1400" dirty="0"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C5023B-A82C-464C-9223-51AB3BC7FEA5}"/>
              </a:ext>
            </a:extLst>
          </p:cNvPr>
          <p:cNvSpPr/>
          <p:nvPr/>
        </p:nvSpPr>
        <p:spPr>
          <a:xfrm>
            <a:off x="165405" y="4104859"/>
            <a:ext cx="27289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+mj-lt"/>
              </a:rPr>
              <a:t>連接字串和數字之前，必須先透過</a:t>
            </a:r>
            <a:r>
              <a:rPr lang="en-US" altLang="zh-TW" sz="1400" dirty="0">
                <a:latin typeface="+mj-lt"/>
              </a:rPr>
              <a:t>str()</a:t>
            </a:r>
            <a:r>
              <a:rPr lang="zh-TW" altLang="en-US" sz="1400" dirty="0">
                <a:latin typeface="+mj-lt"/>
              </a:rPr>
              <a:t>函式把數字轉換字串：</a:t>
            </a:r>
            <a:endParaRPr lang="zh-TW" altLang="en-US" sz="1400" dirty="0"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AB9286D-057F-40FB-8851-618DBDDB80D6}"/>
              </a:ext>
            </a:extLst>
          </p:cNvPr>
          <p:cNvSpPr/>
          <p:nvPr/>
        </p:nvSpPr>
        <p:spPr>
          <a:xfrm>
            <a:off x="210160" y="5645151"/>
            <a:ext cx="27289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+mj-lt"/>
              </a:rPr>
              <a:t>字串裡面可以用大括號，加上選擇性的數字編號（或參數名稱）預留「可變動」內容：</a:t>
            </a:r>
            <a:endParaRPr lang="zh-TW" altLang="en-US" sz="1400" dirty="0">
              <a:latin typeface="+mj-lt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列表（List）類型</a:t>
            </a:r>
          </a:p>
        </p:txBody>
      </p:sp>
      <p:sp>
        <p:nvSpPr>
          <p:cNvPr id="7172" name="Oval 8202"/>
          <p:cNvSpPr/>
          <p:nvPr/>
        </p:nvSpPr>
        <p:spPr>
          <a:xfrm>
            <a:off x="8097520" y="206084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8174196" y="2205310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5-20</a:t>
            </a:r>
          </a:p>
        </p:txBody>
      </p:sp>
      <p:pic>
        <p:nvPicPr>
          <p:cNvPr id="5" name="Picture 4" descr="5_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61480"/>
            <a:ext cx="4540250" cy="787400"/>
          </a:xfrm>
          <a:prstGeom prst="rect">
            <a:avLst/>
          </a:prstGeom>
        </p:spPr>
      </p:pic>
      <p:pic>
        <p:nvPicPr>
          <p:cNvPr id="12" name="Picture 11" descr="5_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0" y="3501008"/>
            <a:ext cx="3943350" cy="654050"/>
          </a:xfrm>
          <a:prstGeom prst="rect">
            <a:avLst/>
          </a:prstGeom>
        </p:spPr>
      </p:pic>
      <p:pic>
        <p:nvPicPr>
          <p:cNvPr id="13" name="Picture 12" descr="5_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85" y="4635118"/>
            <a:ext cx="3797300" cy="654050"/>
          </a:xfrm>
          <a:prstGeom prst="rect">
            <a:avLst/>
          </a:prstGeom>
        </p:spPr>
      </p:pic>
      <p:pic>
        <p:nvPicPr>
          <p:cNvPr id="14" name="Picture 13" descr="5_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7300" y="4635118"/>
            <a:ext cx="4019550" cy="654050"/>
          </a:xfrm>
          <a:prstGeom prst="rect">
            <a:avLst/>
          </a:prstGeom>
        </p:spPr>
      </p:pic>
      <p:pic>
        <p:nvPicPr>
          <p:cNvPr id="16" name="Picture 15" descr="5_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335" y="5854318"/>
            <a:ext cx="3829050" cy="673100"/>
          </a:xfrm>
          <a:prstGeom prst="rect">
            <a:avLst/>
          </a:prstGeom>
        </p:spPr>
      </p:pic>
      <p:pic>
        <p:nvPicPr>
          <p:cNvPr id="18" name="Picture 17" descr="5_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3150" y="5710808"/>
            <a:ext cx="4203700" cy="7874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899B9B7-52B0-4A50-BBFD-7FF9D9F2D216}"/>
              </a:ext>
            </a:extLst>
          </p:cNvPr>
          <p:cNvSpPr/>
          <p:nvPr/>
        </p:nvSpPr>
        <p:spPr>
          <a:xfrm>
            <a:off x="5067300" y="1472164"/>
            <a:ext cx="36091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列表</a:t>
            </a:r>
            <a:r>
              <a:rPr lang="zh-CN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用於儲存一組相關資料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，整組資料用方括號包圍，每個資料元素用逗號分開。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1D2908-A851-449F-B7AC-33AA11C32EE7}"/>
              </a:ext>
            </a:extLst>
          </p:cNvPr>
          <p:cNvSpPr/>
          <p:nvPr/>
        </p:nvSpPr>
        <p:spPr>
          <a:xfrm>
            <a:off x="314772" y="2617167"/>
            <a:ext cx="36091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方法（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method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代表某個物件的操作功能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7" name="Picture 49" descr="c11">
            <a:extLst>
              <a:ext uri="{FF2B5EF4-FFF2-40B4-BE49-F238E27FC236}">
                <a16:creationId xmlns:a16="http://schemas.microsoft.com/office/drawing/2014/main" id="{2E0BE610-8BA1-4D2C-9B51-74F60DE7C825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285750" y="3119857"/>
            <a:ext cx="4410064" cy="10697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513" y="532130"/>
            <a:ext cx="6769100" cy="1143000"/>
          </a:xfrm>
        </p:spPr>
        <p:txBody>
          <a:bodyPr/>
          <a:lstStyle/>
          <a:p>
            <a:r>
              <a:rPr lang="en-US"/>
              <a:t>使用for迴圈、in運算子和enumerate函式取出所有列表元素</a:t>
            </a:r>
          </a:p>
        </p:txBody>
      </p:sp>
      <p:sp>
        <p:nvSpPr>
          <p:cNvPr id="7172" name="Oval 8202"/>
          <p:cNvSpPr/>
          <p:nvPr/>
        </p:nvSpPr>
        <p:spPr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25926" y="5880100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5-23</a:t>
            </a:r>
          </a:p>
        </p:txBody>
      </p:sp>
      <p:pic>
        <p:nvPicPr>
          <p:cNvPr id="4" name="Picture 3" descr="5_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2423300"/>
            <a:ext cx="4083050" cy="679450"/>
          </a:xfrm>
          <a:prstGeom prst="rect">
            <a:avLst/>
          </a:prstGeom>
        </p:spPr>
      </p:pic>
      <p:pic>
        <p:nvPicPr>
          <p:cNvPr id="5" name="Picture 4" descr="5_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3643905"/>
            <a:ext cx="4591050" cy="939800"/>
          </a:xfrm>
          <a:prstGeom prst="rect">
            <a:avLst/>
          </a:prstGeom>
        </p:spPr>
      </p:pic>
      <p:pic>
        <p:nvPicPr>
          <p:cNvPr id="7" name="Picture 6" descr="5_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1416" y="5124860"/>
            <a:ext cx="3333750" cy="13017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221C859-E041-4B6E-B482-4FB630711ED6}"/>
              </a:ext>
            </a:extLst>
          </p:cNvPr>
          <p:cNvSpPr/>
          <p:nvPr/>
        </p:nvSpPr>
        <p:spPr>
          <a:xfrm>
            <a:off x="251520" y="2476520"/>
            <a:ext cx="30963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“in”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“not in”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運算子用於確認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某值是否存在於列表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4D7A92-BBF9-4BD9-B444-BEA65289CEB9}"/>
              </a:ext>
            </a:extLst>
          </p:cNvPr>
          <p:cNvSpPr/>
          <p:nvPr/>
        </p:nvSpPr>
        <p:spPr>
          <a:xfrm>
            <a:off x="251520" y="3801130"/>
            <a:ext cx="309634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for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迴圈搭配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運算子，從列表的第一個元素開始提取，直到取出最後一個元素為止：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元組（tuple）與其他循序型資料操作指令</a:t>
            </a:r>
          </a:p>
        </p:txBody>
      </p:sp>
      <p:sp>
        <p:nvSpPr>
          <p:cNvPr id="7172" name="Oval 8202"/>
          <p:cNvSpPr/>
          <p:nvPr/>
        </p:nvSpPr>
        <p:spPr>
          <a:xfrm>
            <a:off x="8171815" y="1556703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8248491" y="1701165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5-24</a:t>
            </a:r>
          </a:p>
        </p:txBody>
      </p:sp>
      <p:pic>
        <p:nvPicPr>
          <p:cNvPr id="4" name="Picture 3" descr="5_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428" y="1518127"/>
            <a:ext cx="4533900" cy="527050"/>
          </a:xfrm>
          <a:prstGeom prst="rect">
            <a:avLst/>
          </a:prstGeom>
        </p:spPr>
      </p:pic>
      <p:pic>
        <p:nvPicPr>
          <p:cNvPr id="5" name="Picture 4" descr="5_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848" y="2406650"/>
            <a:ext cx="4279900" cy="1022350"/>
          </a:xfrm>
          <a:prstGeom prst="rect">
            <a:avLst/>
          </a:prstGeom>
        </p:spPr>
      </p:pic>
      <p:pic>
        <p:nvPicPr>
          <p:cNvPr id="6" name="Picture 5" descr="5_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8" y="3817986"/>
            <a:ext cx="3962400" cy="1111250"/>
          </a:xfrm>
          <a:prstGeom prst="rect">
            <a:avLst/>
          </a:prstGeom>
        </p:spPr>
      </p:pic>
      <p:pic>
        <p:nvPicPr>
          <p:cNvPr id="9" name="Picture 8" descr="5_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032" y="5753308"/>
            <a:ext cx="4171950" cy="7874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1857036-30F7-4C0C-AE82-447F619DE682}"/>
              </a:ext>
            </a:extLst>
          </p:cNvPr>
          <p:cNvSpPr/>
          <p:nvPr/>
        </p:nvSpPr>
        <p:spPr>
          <a:xfrm>
            <a:off x="827180" y="1723954"/>
            <a:ext cx="18004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元組的元素不能修改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B28D5C-0147-432F-BA86-BA2B4335FB60}"/>
              </a:ext>
            </a:extLst>
          </p:cNvPr>
          <p:cNvSpPr/>
          <p:nvPr/>
        </p:nvSpPr>
        <p:spPr>
          <a:xfrm>
            <a:off x="395021" y="2530129"/>
            <a:ext cx="26648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若嘗試修改或刪除元組的元素，將產生錯誤：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FB7F6C-2A7A-4431-8BF2-FA6EA6B4B9AE}"/>
              </a:ext>
            </a:extLst>
          </p:cNvPr>
          <p:cNvSpPr/>
          <p:nvPr/>
        </p:nvSpPr>
        <p:spPr>
          <a:xfrm>
            <a:off x="395021" y="3850391"/>
            <a:ext cx="266481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設定資料時，若用逗號分隔資料，整個資料將以元組格式儲存，例如：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3" name="Picture 40" descr="c13">
            <a:extLst>
              <a:ext uri="{FF2B5EF4-FFF2-40B4-BE49-F238E27FC236}">
                <a16:creationId xmlns:a16="http://schemas.microsoft.com/office/drawing/2014/main" id="{DB13A771-736E-4ACA-A74C-289F13D0EB7F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123354" y="5858688"/>
            <a:ext cx="4448646" cy="738664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A66026BE-E7C6-4331-B632-6B26C3AD09E3}"/>
              </a:ext>
            </a:extLst>
          </p:cNvPr>
          <p:cNvSpPr/>
          <p:nvPr/>
        </p:nvSpPr>
        <p:spPr>
          <a:xfrm>
            <a:off x="123354" y="5229200"/>
            <a:ext cx="26648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方括號裡的數字可以是負數，代表「從後面」計算：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字典（dictionary）類型</a:t>
            </a:r>
          </a:p>
        </p:txBody>
      </p:sp>
      <p:sp>
        <p:nvSpPr>
          <p:cNvPr id="7172" name="Oval 8202"/>
          <p:cNvSpPr/>
          <p:nvPr/>
        </p:nvSpPr>
        <p:spPr>
          <a:xfrm>
            <a:off x="369685" y="4620780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46361" y="4765242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5-28</a:t>
            </a:r>
          </a:p>
        </p:txBody>
      </p:sp>
      <p:pic>
        <p:nvPicPr>
          <p:cNvPr id="4" name="Picture 3" descr="5_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009" y="2331919"/>
            <a:ext cx="2000250" cy="927100"/>
          </a:xfrm>
          <a:prstGeom prst="rect">
            <a:avLst/>
          </a:prstGeom>
        </p:spPr>
      </p:pic>
      <p:pic>
        <p:nvPicPr>
          <p:cNvPr id="5" name="Picture 4" descr="5_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255" y="1393190"/>
            <a:ext cx="4235450" cy="908050"/>
          </a:xfrm>
          <a:prstGeom prst="rect">
            <a:avLst/>
          </a:prstGeom>
        </p:spPr>
      </p:pic>
      <p:pic>
        <p:nvPicPr>
          <p:cNvPr id="6" name="Picture 5" descr="5_6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0165" y="2617470"/>
            <a:ext cx="4400550" cy="1028700"/>
          </a:xfrm>
          <a:prstGeom prst="rect">
            <a:avLst/>
          </a:prstGeom>
        </p:spPr>
      </p:pic>
      <p:pic>
        <p:nvPicPr>
          <p:cNvPr id="7" name="Picture 6" descr="5_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615" y="3959860"/>
            <a:ext cx="3778250" cy="984250"/>
          </a:xfrm>
          <a:prstGeom prst="rect">
            <a:avLst/>
          </a:prstGeom>
        </p:spPr>
      </p:pic>
      <p:pic>
        <p:nvPicPr>
          <p:cNvPr id="8" name="Picture 7" descr="5_7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790" y="5496321"/>
            <a:ext cx="4356100" cy="584200"/>
          </a:xfrm>
          <a:prstGeom prst="rect">
            <a:avLst/>
          </a:prstGeom>
        </p:spPr>
      </p:pic>
      <p:pic>
        <p:nvPicPr>
          <p:cNvPr id="9" name="Picture 8" descr="5_7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6365" y="6473825"/>
            <a:ext cx="4559300" cy="2794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6413BC5-391E-4D25-84D5-9B1CE27CB1A7}"/>
              </a:ext>
            </a:extLst>
          </p:cNvPr>
          <p:cNvSpPr/>
          <p:nvPr/>
        </p:nvSpPr>
        <p:spPr>
          <a:xfrm>
            <a:off x="425926" y="1585605"/>
            <a:ext cx="313796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字典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(dictionary</a:t>
            </a: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</a:t>
            </a:r>
            <a:r>
              <a:rPr lang="zh-CN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可儲存多組數據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；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zh-CN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透過</a:t>
            </a:r>
            <a:r>
              <a:rPr lang="zh-CN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名稱（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key</a:t>
            </a:r>
            <a:r>
              <a:rPr lang="zh-CN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</a:t>
            </a:r>
            <a:r>
              <a:rPr lang="zh-CN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1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E39B78C-999A-4980-8541-1B1E8E94C7C1}"/>
              </a:ext>
            </a:extLst>
          </p:cNvPr>
          <p:cNvSpPr/>
          <p:nvPr/>
        </p:nvSpPr>
        <p:spPr>
          <a:xfrm>
            <a:off x="425926" y="3902386"/>
            <a:ext cx="313796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「字典」也被稱為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名稱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值對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建立字典的語法與範例：</a:t>
            </a:r>
            <a:endParaRPr lang="zh-TW" altLang="zh-TW" sz="1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E42C57B-0F9D-444F-97FE-80FDA72810A9}"/>
              </a:ext>
            </a:extLst>
          </p:cNvPr>
          <p:cNvSpPr/>
          <p:nvPr/>
        </p:nvSpPr>
        <p:spPr>
          <a:xfrm>
            <a:off x="277787" y="5770974"/>
            <a:ext cx="34342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「名稱」可以用字串、數字和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組類型</a:t>
            </a:r>
            <a:endParaRPr lang="zh-TW" altLang="zh-TW" sz="1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操作字典類型資料</a:t>
            </a:r>
          </a:p>
        </p:txBody>
      </p:sp>
      <p:sp>
        <p:nvSpPr>
          <p:cNvPr id="7172" name="Oval 8202"/>
          <p:cNvSpPr/>
          <p:nvPr/>
        </p:nvSpPr>
        <p:spPr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25926" y="5880100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5-30</a:t>
            </a:r>
          </a:p>
        </p:txBody>
      </p:sp>
      <p:pic>
        <p:nvPicPr>
          <p:cNvPr id="4" name="Picture 3" descr="5_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60" y="1844824"/>
            <a:ext cx="3505200" cy="984250"/>
          </a:xfrm>
          <a:prstGeom prst="rect">
            <a:avLst/>
          </a:prstGeom>
        </p:spPr>
      </p:pic>
      <p:pic>
        <p:nvPicPr>
          <p:cNvPr id="5" name="Picture 4" descr="5_7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974" y="1844824"/>
            <a:ext cx="2501900" cy="431800"/>
          </a:xfrm>
          <a:prstGeom prst="rect">
            <a:avLst/>
          </a:prstGeom>
        </p:spPr>
      </p:pic>
      <p:pic>
        <p:nvPicPr>
          <p:cNvPr id="8" name="Picture 7" descr="5_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152" y="3397139"/>
            <a:ext cx="3079750" cy="933450"/>
          </a:xfrm>
          <a:prstGeom prst="rect">
            <a:avLst/>
          </a:prstGeom>
        </p:spPr>
      </p:pic>
      <p:pic>
        <p:nvPicPr>
          <p:cNvPr id="9" name="Picture 8" descr="5_8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8044" y="4571216"/>
            <a:ext cx="4368800" cy="628650"/>
          </a:xfrm>
          <a:prstGeom prst="rect">
            <a:avLst/>
          </a:prstGeom>
        </p:spPr>
      </p:pic>
      <p:pic>
        <p:nvPicPr>
          <p:cNvPr id="10" name="Picture 9" descr="5_8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44" y="5434331"/>
            <a:ext cx="4616450" cy="13525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7B4B7FE-0D4A-406E-93DC-CC148EBC2D19}"/>
              </a:ext>
            </a:extLst>
          </p:cNvPr>
          <p:cNvSpPr/>
          <p:nvPr/>
        </p:nvSpPr>
        <p:spPr>
          <a:xfrm>
            <a:off x="769466" y="1340447"/>
            <a:ext cx="32576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pop()</a:t>
            </a: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方法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或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del</a:t>
            </a: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指令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可刪除指定元素：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13B08A-FCE5-4468-9BDD-DA47E9EC9D1B}"/>
              </a:ext>
            </a:extLst>
          </p:cNvPr>
          <p:cNvSpPr/>
          <p:nvPr/>
        </p:nvSpPr>
        <p:spPr>
          <a:xfrm>
            <a:off x="5083231" y="2738362"/>
            <a:ext cx="3985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執行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get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方法可存取某個名稱的值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若指定名稱元素不存在，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方法將傳回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None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pic>
        <p:nvPicPr>
          <p:cNvPr id="13" name="Picture 93" descr="c33">
            <a:extLst>
              <a:ext uri="{FF2B5EF4-FFF2-40B4-BE49-F238E27FC236}">
                <a16:creationId xmlns:a16="http://schemas.microsoft.com/office/drawing/2014/main" id="{E05F4857-83F5-4697-AFD3-61FCF6349F1E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284098" y="3347933"/>
            <a:ext cx="4842160" cy="110297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8B11A35-7029-444E-846D-BCBEA8AF47E3}"/>
              </a:ext>
            </a:extLst>
          </p:cNvPr>
          <p:cNvSpPr/>
          <p:nvPr/>
        </p:nvSpPr>
        <p:spPr>
          <a:xfrm>
            <a:off x="871192" y="4845643"/>
            <a:ext cx="30541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update()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：一次新增或合併多筆資料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157190-BB7C-4506-A7F0-F2E839B8752F}"/>
              </a:ext>
            </a:extLst>
          </p:cNvPr>
          <p:cNvSpPr/>
          <p:nvPr/>
        </p:nvSpPr>
        <p:spPr>
          <a:xfrm>
            <a:off x="1490508" y="6017736"/>
            <a:ext cx="271873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for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迴圈搭配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keys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或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values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方法，可列舉字典裡的所有「名稱」或「值」。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3313">
            <a:extLst>
              <a:ext uri="{FF2B5EF4-FFF2-40B4-BE49-F238E27FC236}">
                <a16:creationId xmlns:a16="http://schemas.microsoft.com/office/drawing/2014/main" id="{4A482EA6-58F5-42B7-84A5-52C8DA219121}"/>
              </a:ext>
            </a:extLst>
          </p:cNvPr>
          <p:cNvSpPr>
            <a:spLocks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數字系統（一）</a:t>
            </a:r>
          </a:p>
        </p:txBody>
      </p:sp>
      <p:pic>
        <p:nvPicPr>
          <p:cNvPr id="14338" name="Picture 13315" descr="c11">
            <a:extLst>
              <a:ext uri="{FF2B5EF4-FFF2-40B4-BE49-F238E27FC236}">
                <a16:creationId xmlns:a16="http://schemas.microsoft.com/office/drawing/2014/main" id="{05885717-16EA-47E7-8C79-6287116C2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1331913"/>
            <a:ext cx="5705475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13316" descr="c12">
            <a:extLst>
              <a:ext uri="{FF2B5EF4-FFF2-40B4-BE49-F238E27FC236}">
                <a16:creationId xmlns:a16="http://schemas.microsoft.com/office/drawing/2014/main" id="{14B0BAAA-81DF-4773-A8F2-96D4D3CC2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4863" y="4586288"/>
            <a:ext cx="49720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Text Box 13317">
            <a:extLst>
              <a:ext uri="{FF2B5EF4-FFF2-40B4-BE49-F238E27FC236}">
                <a16:creationId xmlns:a16="http://schemas.microsoft.com/office/drawing/2014/main" id="{07406F50-FF1B-4436-AD0F-F7BB4EAE3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1547813"/>
            <a:ext cx="3005138" cy="17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每個數字所在的位置，代表不同的權值（weight）。</a:t>
            </a:r>
          </a:p>
          <a:p>
            <a:endParaRPr lang="en-US" altLang="en-US">
              <a:latin typeface="微軟正黑體" panose="020B0604030504040204" pitchFamily="34" charset="-120"/>
            </a:endParaRPr>
          </a:p>
          <a:p>
            <a:r>
              <a:rPr lang="en-US" altLang="en-US">
                <a:latin typeface="微軟正黑體" panose="020B0604030504040204" pitchFamily="34" charset="-120"/>
              </a:rPr>
              <a:t>二進位數字乘上它所代表的權值的總和，即可換算成10進位數字。</a:t>
            </a:r>
          </a:p>
        </p:txBody>
      </p:sp>
      <p:sp>
        <p:nvSpPr>
          <p:cNvPr id="14341" name="Text Box 13318">
            <a:extLst>
              <a:ext uri="{FF2B5EF4-FFF2-40B4-BE49-F238E27FC236}">
                <a16:creationId xmlns:a16="http://schemas.microsoft.com/office/drawing/2014/main" id="{49C6DE85-56B1-4D3D-A63D-22F946662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4586288"/>
            <a:ext cx="1909763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zh-TW" altLang="en-US">
                <a:ea typeface="新細明體" panose="02020500000000000000" pitchFamily="18" charset="-120"/>
              </a:rPr>
              <a:t>2</a:t>
            </a:r>
            <a:r>
              <a:rPr lang="zh-CN" altLang="en-US">
                <a:ea typeface="SimSun" panose="02010600030101010101" pitchFamily="2" charset="-122"/>
              </a:rPr>
              <a:t>進位數字換算成</a:t>
            </a:r>
          </a:p>
          <a:p>
            <a:r>
              <a:rPr lang="zh-TW" altLang="en-US">
                <a:ea typeface="新細明體" panose="02020500000000000000" pitchFamily="18" charset="-120"/>
              </a:rPr>
              <a:t>16</a:t>
            </a:r>
            <a:r>
              <a:rPr lang="zh-CN" altLang="en-US">
                <a:ea typeface="SimSun" panose="02010600030101010101" pitchFamily="2" charset="-122"/>
              </a:rPr>
              <a:t>進位數字</a:t>
            </a:r>
          </a:p>
        </p:txBody>
      </p:sp>
      <p:sp>
        <p:nvSpPr>
          <p:cNvPr id="9" name="Oval 8202">
            <a:extLst>
              <a:ext uri="{FF2B5EF4-FFF2-40B4-BE49-F238E27FC236}">
                <a16:creationId xmlns:a16="http://schemas.microsoft.com/office/drawing/2014/main" id="{0F32BFC8-1723-41FF-B712-DEDD34420CEC}"/>
              </a:ext>
            </a:extLst>
          </p:cNvPr>
          <p:cNvSpPr/>
          <p:nvPr/>
        </p:nvSpPr>
        <p:spPr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" name="Text Box 8203">
            <a:extLst>
              <a:ext uri="{FF2B5EF4-FFF2-40B4-BE49-F238E27FC236}">
                <a16:creationId xmlns:a16="http://schemas.microsoft.com/office/drawing/2014/main" id="{FEE22042-277F-4D98-B449-B36198920F12}"/>
              </a:ext>
            </a:extLst>
          </p:cNvPr>
          <p:cNvSpPr txBox="1"/>
          <p:nvPr/>
        </p:nvSpPr>
        <p:spPr>
          <a:xfrm>
            <a:off x="421116" y="5880100"/>
            <a:ext cx="699230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5-34</a:t>
            </a:r>
          </a:p>
        </p:txBody>
      </p:sp>
    </p:spTree>
  </p:cSld>
  <p:clrMapOvr>
    <a:masterClrMapping/>
  </p:clrMapOvr>
  <p:transition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53887B46-3EFB-4F97-B4CD-04865BC637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數字系統（二）</a:t>
            </a:r>
            <a:endParaRPr lang="en-US" altLang="en-US"/>
          </a:p>
        </p:txBody>
      </p:sp>
      <p:sp>
        <p:nvSpPr>
          <p:cNvPr id="15363" name="Text Box 13319">
            <a:extLst>
              <a:ext uri="{FF2B5EF4-FFF2-40B4-BE49-F238E27FC236}">
                <a16:creationId xmlns:a16="http://schemas.microsoft.com/office/drawing/2014/main" id="{4CC8B60B-5E6B-4B82-9BBB-F434A1048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4511675"/>
            <a:ext cx="26971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zh-TW" altLang="en-US">
                <a:ea typeface="新細明體" panose="02020500000000000000" pitchFamily="18" charset="-120"/>
              </a:rPr>
              <a:t>不同進位數字的表示方法</a:t>
            </a:r>
          </a:p>
        </p:txBody>
      </p:sp>
      <p:pic>
        <p:nvPicPr>
          <p:cNvPr id="15364" name="Picture 3" descr="la32_6">
            <a:extLst>
              <a:ext uri="{FF2B5EF4-FFF2-40B4-BE49-F238E27FC236}">
                <a16:creationId xmlns:a16="http://schemas.microsoft.com/office/drawing/2014/main" id="{B6A4D43A-DB04-40E0-8C35-B18338AA4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450" y="1708150"/>
            <a:ext cx="49911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8202">
            <a:extLst>
              <a:ext uri="{FF2B5EF4-FFF2-40B4-BE49-F238E27FC236}">
                <a16:creationId xmlns:a16="http://schemas.microsoft.com/office/drawing/2014/main" id="{2DAE4620-24DB-46A4-ACF0-54D5B1FE5967}"/>
              </a:ext>
            </a:extLst>
          </p:cNvPr>
          <p:cNvSpPr/>
          <p:nvPr/>
        </p:nvSpPr>
        <p:spPr>
          <a:xfrm>
            <a:off x="8005144" y="3717032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" name="Text Box 8203">
            <a:extLst>
              <a:ext uri="{FF2B5EF4-FFF2-40B4-BE49-F238E27FC236}">
                <a16:creationId xmlns:a16="http://schemas.microsoft.com/office/drawing/2014/main" id="{C3340585-35C4-4E04-B8C7-CCE70771E851}"/>
              </a:ext>
            </a:extLst>
          </p:cNvPr>
          <p:cNvSpPr txBox="1"/>
          <p:nvPr/>
        </p:nvSpPr>
        <p:spPr>
          <a:xfrm>
            <a:off x="8077010" y="3861494"/>
            <a:ext cx="699230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5-35</a:t>
            </a:r>
          </a:p>
        </p:txBody>
      </p:sp>
      <p:pic>
        <p:nvPicPr>
          <p:cNvPr id="12" name="Picture 7" descr="5_91">
            <a:extLst>
              <a:ext uri="{FF2B5EF4-FFF2-40B4-BE49-F238E27FC236}">
                <a16:creationId xmlns:a16="http://schemas.microsoft.com/office/drawing/2014/main" id="{7E7201F5-9FF3-4737-B7E9-EA3A9B689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50" y="5505450"/>
            <a:ext cx="2686050" cy="463550"/>
          </a:xfrm>
          <a:prstGeom prst="rect">
            <a:avLst/>
          </a:prstGeom>
        </p:spPr>
      </p:pic>
      <p:pic>
        <p:nvPicPr>
          <p:cNvPr id="13" name="Picture 8" descr="5_92">
            <a:extLst>
              <a:ext uri="{FF2B5EF4-FFF2-40B4-BE49-F238E27FC236}">
                <a16:creationId xmlns:a16="http://schemas.microsoft.com/office/drawing/2014/main" id="{5FD5F741-E918-4B44-BF2A-6DF8F5D3E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0175" y="5505450"/>
            <a:ext cx="3086100" cy="463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een Technology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216606"/>
      </a:accent1>
      <a:accent2>
        <a:srgbClr val="669900"/>
      </a:accent2>
      <a:accent3>
        <a:srgbClr val="FFFFFF"/>
      </a:accent3>
      <a:accent4>
        <a:srgbClr val="000000"/>
      </a:accent4>
      <a:accent5>
        <a:srgbClr val="ABB9AA"/>
      </a:accent5>
      <a:accent6>
        <a:srgbClr val="5B8900"/>
      </a:accent6>
      <a:hlink>
        <a:srgbClr val="CC3300"/>
      </a:hlink>
      <a:folHlink>
        <a:srgbClr val="996600"/>
      </a:folHlink>
    </a:clrScheme>
    <a:fontScheme name="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216606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ABB9AA"/>
        </a:accent5>
        <a:accent6>
          <a:srgbClr val="5B8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_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1019</Words>
  <Application>Microsoft Office PowerPoint</Application>
  <PresentationFormat>如螢幕大小 (4:3)</PresentationFormat>
  <Paragraphs>168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16</vt:i4>
      </vt:variant>
    </vt:vector>
  </HeadingPairs>
  <TitlesOfParts>
    <vt:vector size="24" baseType="lpstr">
      <vt:lpstr>SimSun</vt:lpstr>
      <vt:lpstr>微軟正黑體</vt:lpstr>
      <vt:lpstr>新細明體</vt:lpstr>
      <vt:lpstr>Arial</vt:lpstr>
      <vt:lpstr>Wingdings</vt:lpstr>
      <vt:lpstr>Green Technology</vt:lpstr>
      <vt:lpstr>Custom Design</vt:lpstr>
      <vt:lpstr>Custom Design_2</vt:lpstr>
      <vt:lpstr>PowerPoint 簡報</vt:lpstr>
      <vt:lpstr>第5章 Python程式設計基礎</vt:lpstr>
      <vt:lpstr>變數與資料類型</vt:lpstr>
      <vt:lpstr>建立自訂函式</vt:lpstr>
      <vt:lpstr>設定自訂函式的引數（參數）與傳回值</vt:lpstr>
      <vt:lpstr>認識變數的有效範圍</vt:lpstr>
      <vt:lpstr>自訂程式庫與常數定義</vt:lpstr>
      <vt:lpstr>字元編碼與控制字元</vt:lpstr>
      <vt:lpstr>連接字串與儲存多行文字</vt:lpstr>
      <vt:lpstr>列表（List）類型</vt:lpstr>
      <vt:lpstr>使用for迴圈、in運算子和enumerate函式取出所有列表元素</vt:lpstr>
      <vt:lpstr>元組（tuple）與其他循序型資料操作指令</vt:lpstr>
      <vt:lpstr>字典（dictionary）類型</vt:lpstr>
      <vt:lpstr>操作字典類型資料</vt:lpstr>
      <vt:lpstr>數字系統（一）</vt:lpstr>
      <vt:lpstr>數字系統（二）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認識MicroPython與ESP8266控制板</dc:title>
  <dc:creator>趙英傑</dc:creator>
  <cp:lastModifiedBy>Ying-Chieh Chao</cp:lastModifiedBy>
  <cp:revision>44</cp:revision>
  <dcterms:created xsi:type="dcterms:W3CDTF">2013-06-03T22:45:00Z</dcterms:created>
  <dcterms:modified xsi:type="dcterms:W3CDTF">2019-09-11T12:21:42Z</dcterms:modified>
  <cp:category>超圖解 Python 物聯網實作入門：使用 ESP8266 與 MicroPython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1033-10.2.0.6051</vt:lpwstr>
  </property>
</Properties>
</file>