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sldIdLst>
    <p:sldId id="256" r:id="rId4"/>
    <p:sldId id="25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81" d="100"/>
          <a:sy n="81" d="100"/>
        </p:scale>
        <p:origin x="1498" y="62"/>
      </p:cViewPr>
      <p:guideLst>
        <p:guide orient="horz" pos="215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 descr="micropython_cover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925" y="2944813"/>
            <a:ext cx="5715000" cy="3676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2" descr="micropython_cover_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125" y="206375"/>
            <a:ext cx="381000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3" descr="autho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1625" y="6196013"/>
            <a:ext cx="952500" cy="39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Picture 4" descr="flag_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02625" y="219075"/>
            <a:ext cx="571500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6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027"/>
          <p:cNvSpPr>
            <a:spLocks noGrp="1"/>
          </p:cNvSpPr>
          <p:nvPr>
            <p:ph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1029" name="Date Placeholder 1028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Footer Placeholder 1029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ctr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1" name="Slide Number Placeholder 1030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r">
              <a:defRPr sz="1400"/>
            </a:lvl1pPr>
          </a:lstStyle>
          <a:p>
            <a:pPr lvl="0" fontAlgn="base"/>
            <a:fld id="{9A0DB2DC-4C9A-4742-B13C-FB6460FD3503}" type="slidenum">
              <a:rPr lang="en-US" alt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lang="en-US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074"/>
          <p:cNvSpPr>
            <a:spLocks noGrp="1"/>
          </p:cNvSpPr>
          <p:nvPr>
            <p:ph type="title"/>
          </p:nvPr>
        </p:nvSpPr>
        <p:spPr>
          <a:xfrm>
            <a:off x="684213" y="274638"/>
            <a:ext cx="8002587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075"/>
          <p:cNvSpPr>
            <a:spLocks noGrp="1"/>
          </p:cNvSpPr>
          <p:nvPr>
            <p:ph type="body"/>
          </p:nvPr>
        </p:nvSpPr>
        <p:spPr>
          <a:xfrm>
            <a:off x="4141788" y="1600200"/>
            <a:ext cx="4546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3077" name="Footer Placeholder 307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3078" name="Slide Number Placeholder 307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  <p:pic>
        <p:nvPicPr>
          <p:cNvPr id="2" name="Picture 1" descr="boards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2460" y="1847215"/>
            <a:ext cx="1314450" cy="4432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nner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26035" y="-17145"/>
            <a:ext cx="9197340" cy="1253490"/>
          </a:xfrm>
          <a:prstGeom prst="rect">
            <a:avLst/>
          </a:prstGeom>
        </p:spPr>
      </p:pic>
      <p:sp>
        <p:nvSpPr>
          <p:cNvPr id="3075" name="Title 4098"/>
          <p:cNvSpPr>
            <a:spLocks noGrp="1"/>
          </p:cNvSpPr>
          <p:nvPr>
            <p:ph type="title"/>
          </p:nvPr>
        </p:nvSpPr>
        <p:spPr>
          <a:xfrm>
            <a:off x="2195513" y="101600"/>
            <a:ext cx="67691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4099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4101" name="Date Placeholder 4100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2" name="Footer Placeholder 4101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3" name="Slide Number Placeholder 4102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716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第</a:t>
            </a:r>
            <a:r>
              <a:rPr lang="en-US" altLang="zh-TW" dirty="0"/>
              <a:t>4</a:t>
            </a:r>
            <a:r>
              <a:rPr lang="zh-TW" altLang="en-US" dirty="0"/>
              <a:t>章 開關電路</a:t>
            </a:r>
          </a:p>
        </p:txBody>
      </p:sp>
      <p:sp>
        <p:nvSpPr>
          <p:cNvPr id="6146" name="Text Placeholder 7170"/>
          <p:cNvSpPr>
            <a:spLocks noGrp="1"/>
          </p:cNvSpPr>
          <p:nvPr>
            <p:ph idx="1"/>
          </p:nvPr>
        </p:nvSpPr>
        <p:spPr>
          <a:xfrm>
            <a:off x="3123565" y="1824990"/>
            <a:ext cx="5438775" cy="3502025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zh-TW" altLang="en-US" sz="2800" dirty="0"/>
              <a:t>認識開關及其電路符號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認識上拉與下拉電阻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改變程式執行流程的分歧指令敘述（條件判斷）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用軟體與硬體解決開關訊號的彈跳問題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觸控開關的原理與應用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024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認識開關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4-2</a:t>
            </a:r>
          </a:p>
        </p:txBody>
      </p:sp>
      <p:pic>
        <p:nvPicPr>
          <p:cNvPr id="2" name="Picture 1" descr="sw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790" y="1323340"/>
            <a:ext cx="4640580" cy="2338070"/>
          </a:xfrm>
          <a:prstGeom prst="rect">
            <a:avLst/>
          </a:prstGeom>
        </p:spPr>
      </p:pic>
      <p:pic>
        <p:nvPicPr>
          <p:cNvPr id="3" name="Picture 2" descr="sw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0" y="4213225"/>
            <a:ext cx="4206875" cy="869315"/>
          </a:xfrm>
          <a:prstGeom prst="rect">
            <a:avLst/>
          </a:prstGeom>
        </p:spPr>
      </p:pic>
      <p:pic>
        <p:nvPicPr>
          <p:cNvPr id="4" name="Picture 3" descr="sw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440" y="5413375"/>
            <a:ext cx="4043045" cy="12458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1E24A1F-A0AE-48C6-9767-6FBB9BF7F549}"/>
              </a:ext>
            </a:extLst>
          </p:cNvPr>
          <p:cNvSpPr/>
          <p:nvPr/>
        </p:nvSpPr>
        <p:spPr>
          <a:xfrm>
            <a:off x="260350" y="1586031"/>
            <a:ext cx="344755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開關可分成兩種類型：</a:t>
            </a:r>
            <a:endParaRPr lang="zh-TW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TW" altLang="zh-TW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常開（</a:t>
            </a:r>
            <a:r>
              <a:rPr lang="en-US" altLang="zh-TW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N.O.</a:t>
            </a:r>
            <a:r>
              <a:rPr lang="zh-TW" altLang="zh-TW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r>
              <a:rPr lang="zh-TW" altLang="zh-TW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：接點平常是不相連的，按下之後才導通。</a:t>
            </a:r>
            <a:endParaRPr lang="zh-TW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TW" altLang="zh-TW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常閉（</a:t>
            </a:r>
            <a:r>
              <a:rPr lang="en-US" altLang="zh-TW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N.C.</a:t>
            </a:r>
            <a:r>
              <a:rPr lang="zh-TW" altLang="zh-TW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r>
              <a:rPr lang="zh-TW" altLang="zh-TW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：接點平常是導通的，按下之後不相連。</a:t>
            </a:r>
            <a:endParaRPr lang="zh-TW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9" descr="sw3_1">
            <a:extLst>
              <a:ext uri="{FF2B5EF4-FFF2-40B4-BE49-F238E27FC236}">
                <a16:creationId xmlns:a16="http://schemas.microsoft.com/office/drawing/2014/main" id="{5373AB8D-0461-4D52-8F64-8D6557BC2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1" y="4365398"/>
            <a:ext cx="3303538" cy="717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412E68E-F2DF-4353-9BB8-3766F3C75C96}"/>
              </a:ext>
            </a:extLst>
          </p:cNvPr>
          <p:cNvSpPr/>
          <p:nvPr/>
        </p:nvSpPr>
        <p:spPr>
          <a:xfrm>
            <a:off x="209401" y="3948530"/>
            <a:ext cx="11432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開關</a:t>
            </a: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的符號</a:t>
            </a:r>
            <a:endParaRPr lang="zh-TW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7C86BC-FFE6-41C8-8334-C93A3554BDF4}"/>
              </a:ext>
            </a:extLst>
          </p:cNvPr>
          <p:cNvSpPr/>
          <p:nvPr/>
        </p:nvSpPr>
        <p:spPr>
          <a:xfrm>
            <a:off x="1550367" y="5726211"/>
            <a:ext cx="23945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用三用電錶的「歐姆」檔測量，若測得的電阻值為</a:t>
            </a:r>
            <a:r>
              <a:rPr lang="en-US" altLang="zh-TW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0</a:t>
            </a: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，代表兩個接腳處於導通狀態：</a:t>
            </a:r>
            <a:endParaRPr lang="zh-TW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開關電路與上∕下拉電阻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4-6</a:t>
            </a:r>
          </a:p>
        </p:txBody>
      </p:sp>
      <p:pic>
        <p:nvPicPr>
          <p:cNvPr id="6" name="Picture 5" descr="sw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631" y="2306531"/>
            <a:ext cx="3213100" cy="1162050"/>
          </a:xfrm>
          <a:prstGeom prst="rect">
            <a:avLst/>
          </a:prstGeom>
        </p:spPr>
      </p:pic>
      <p:pic>
        <p:nvPicPr>
          <p:cNvPr id="7" name="Picture 6" descr="sw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917" y="4597864"/>
            <a:ext cx="2413000" cy="2133600"/>
          </a:xfrm>
          <a:prstGeom prst="rect">
            <a:avLst/>
          </a:prstGeom>
        </p:spPr>
      </p:pic>
      <p:pic>
        <p:nvPicPr>
          <p:cNvPr id="8" name="Picture 7" descr="sw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5030899"/>
            <a:ext cx="3651250" cy="1600200"/>
          </a:xfrm>
          <a:prstGeom prst="rect">
            <a:avLst/>
          </a:prstGeom>
        </p:spPr>
      </p:pic>
      <p:pic>
        <p:nvPicPr>
          <p:cNvPr id="2050" name="Picture 68" descr="sw4">
            <a:extLst>
              <a:ext uri="{FF2B5EF4-FFF2-40B4-BE49-F238E27FC236}">
                <a16:creationId xmlns:a16="http://schemas.microsoft.com/office/drawing/2014/main" id="{B36C28C5-5F58-40ED-833D-E9FCB7476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5" y="2231919"/>
            <a:ext cx="45116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2209276-8BB7-4261-AB87-FD2BF7E307C1}"/>
              </a:ext>
            </a:extLst>
          </p:cNvPr>
          <p:cNvSpPr/>
          <p:nvPr/>
        </p:nvSpPr>
        <p:spPr>
          <a:xfrm>
            <a:off x="179512" y="1463685"/>
            <a:ext cx="3364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如果沒有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12K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Ω電阻，按下開關時，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正電源將和接地直接相連，造成短路。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80F8F1-D0FA-43B6-8234-26AAD1E160D6}"/>
              </a:ext>
            </a:extLst>
          </p:cNvPr>
          <p:cNvSpPr/>
          <p:nvPr/>
        </p:nvSpPr>
        <p:spPr>
          <a:xfrm>
            <a:off x="5364088" y="1463685"/>
            <a:ext cx="3364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電阻的一端接電源，稱為</a:t>
            </a:r>
            <a:r>
              <a:rPr lang="zh-TW" altLang="en-US" sz="1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上拉電阻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；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另一端接地，稱為</a:t>
            </a:r>
            <a:r>
              <a:rPr lang="zh-TW" altLang="en-US" sz="1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下拉電阻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045DBE-3F9C-46A5-9FF5-0FC76776E79A}"/>
              </a:ext>
            </a:extLst>
          </p:cNvPr>
          <p:cNvSpPr/>
          <p:nvPr/>
        </p:nvSpPr>
        <p:spPr>
          <a:xfrm>
            <a:off x="108555" y="3883632"/>
            <a:ext cx="355779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模組預設的接腳：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接</a:t>
            </a:r>
            <a:r>
              <a:rPr lang="zh-TW" altLang="en-US" sz="1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高電位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Reset, EN, GPIO0, GPIO2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接</a:t>
            </a:r>
            <a:r>
              <a:rPr lang="zh-TW" altLang="en-US" sz="1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低電位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GPIO15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62" descr="c3">
            <a:extLst>
              <a:ext uri="{FF2B5EF4-FFF2-40B4-BE49-F238E27FC236}">
                <a16:creationId xmlns:a16="http://schemas.microsoft.com/office/drawing/2014/main" id="{9605FBFD-301B-460D-B617-B6A56A397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204864"/>
            <a:ext cx="4965107" cy="18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動手做4-1：用麵包板組裝開關電路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4-8</a:t>
            </a:r>
          </a:p>
        </p:txBody>
      </p:sp>
      <p:pic>
        <p:nvPicPr>
          <p:cNvPr id="4" name="Picture 3" descr="sw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1" y="2276718"/>
            <a:ext cx="3670300" cy="1752600"/>
          </a:xfrm>
          <a:prstGeom prst="rect">
            <a:avLst/>
          </a:prstGeom>
        </p:spPr>
      </p:pic>
      <p:pic>
        <p:nvPicPr>
          <p:cNvPr id="6" name="Picture 5" descr="sw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432" y="5302250"/>
            <a:ext cx="3041650" cy="1454150"/>
          </a:xfrm>
          <a:prstGeom prst="rect">
            <a:avLst/>
          </a:prstGeom>
        </p:spPr>
      </p:pic>
      <p:pic>
        <p:nvPicPr>
          <p:cNvPr id="7" name="Picture 6" descr="sw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485" y="5244926"/>
            <a:ext cx="3524250" cy="15684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A748175-FB3F-4C8D-B1B1-51074775EF0A}"/>
              </a:ext>
            </a:extLst>
          </p:cNvPr>
          <p:cNvSpPr/>
          <p:nvPr/>
        </p:nvSpPr>
        <p:spPr>
          <a:xfrm>
            <a:off x="438887" y="1583571"/>
            <a:ext cx="33410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輕觸</a:t>
            </a:r>
            <a:r>
              <a:rPr lang="zh-CN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開關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有四個接點，但實際上只需用到兩個接點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（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1, 3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2, 4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）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A11965-6020-4B3D-A74D-39B821379115}"/>
              </a:ext>
            </a:extLst>
          </p:cNvPr>
          <p:cNvSpPr/>
          <p:nvPr/>
        </p:nvSpPr>
        <p:spPr>
          <a:xfrm>
            <a:off x="1282992" y="4538216"/>
            <a:ext cx="22882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底下是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不正確的寫法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程式僅讀取一次開關值。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16B12D-6452-4CB7-B19E-CC457EF23DE9}"/>
              </a:ext>
            </a:extLst>
          </p:cNvPr>
          <p:cNvSpPr/>
          <p:nvPr/>
        </p:nvSpPr>
        <p:spPr>
          <a:xfrm>
            <a:off x="5955432" y="4845993"/>
            <a:ext cx="22882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正確的寫法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啟用ESP8266晶片內部的上拉電阻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4-11</a:t>
            </a:r>
          </a:p>
        </p:txBody>
      </p:sp>
      <p:pic>
        <p:nvPicPr>
          <p:cNvPr id="5" name="Picture 4" descr="sw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38" y="2686711"/>
            <a:ext cx="2698750" cy="603250"/>
          </a:xfrm>
          <a:prstGeom prst="rect">
            <a:avLst/>
          </a:prstGeom>
        </p:spPr>
      </p:pic>
      <p:pic>
        <p:nvPicPr>
          <p:cNvPr id="6" name="Picture 5" descr="sw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923" y="2159661"/>
            <a:ext cx="1517650" cy="1130300"/>
          </a:xfrm>
          <a:prstGeom prst="rect">
            <a:avLst/>
          </a:prstGeom>
        </p:spPr>
      </p:pic>
      <p:pic>
        <p:nvPicPr>
          <p:cNvPr id="7" name="Picture 6" descr="sw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864" y="4978302"/>
            <a:ext cx="4152900" cy="10223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FC1989F-8CCB-4B7B-B864-30B098EC1A15}"/>
              </a:ext>
            </a:extLst>
          </p:cNvPr>
          <p:cNvSpPr/>
          <p:nvPr/>
        </p:nvSpPr>
        <p:spPr>
          <a:xfrm>
            <a:off x="770731" y="18211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只要啟用上拉電阻，外部電路就不需要額外的電阻，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0"/>
              </a:spcAft>
            </a:pP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可直接連接開關：</a:t>
            </a:r>
            <a:endParaRPr lang="zh-TW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955B6F-05C5-4816-A482-7C38A37B5FF4}"/>
              </a:ext>
            </a:extLst>
          </p:cNvPr>
          <p:cNvSpPr/>
          <p:nvPr/>
        </p:nvSpPr>
        <p:spPr>
          <a:xfrm>
            <a:off x="770731" y="4374301"/>
            <a:ext cx="35852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別忘了，啟用上拉電阻的開關，按下開關時的輸入值是「低電位」：</a:t>
            </a:r>
            <a:endParaRPr lang="zh-TW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改變程式流程的if條件式</a:t>
            </a:r>
          </a:p>
        </p:txBody>
      </p:sp>
      <p:sp>
        <p:nvSpPr>
          <p:cNvPr id="7172" name="Oval 8202"/>
          <p:cNvSpPr/>
          <p:nvPr/>
        </p:nvSpPr>
        <p:spPr>
          <a:xfrm>
            <a:off x="8109585" y="4316413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8186261" y="4460875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4-12</a:t>
            </a:r>
          </a:p>
        </p:txBody>
      </p:sp>
      <p:pic>
        <p:nvPicPr>
          <p:cNvPr id="4" name="Picture 3" descr="sw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1676400"/>
            <a:ext cx="3492500" cy="1117600"/>
          </a:xfrm>
          <a:prstGeom prst="rect">
            <a:avLst/>
          </a:prstGeom>
        </p:spPr>
      </p:pic>
      <p:pic>
        <p:nvPicPr>
          <p:cNvPr id="5" name="Picture 4" descr="sw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385" y="1628140"/>
            <a:ext cx="3016250" cy="1377950"/>
          </a:xfrm>
          <a:prstGeom prst="rect">
            <a:avLst/>
          </a:prstGeom>
        </p:spPr>
      </p:pic>
      <p:pic>
        <p:nvPicPr>
          <p:cNvPr id="6" name="Picture 5" descr="sw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5260340"/>
            <a:ext cx="3835400" cy="1289050"/>
          </a:xfrm>
          <a:prstGeom prst="rect">
            <a:avLst/>
          </a:prstGeom>
        </p:spPr>
      </p:pic>
      <p:pic>
        <p:nvPicPr>
          <p:cNvPr id="7" name="Picture 6" descr="sw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645" y="3491230"/>
            <a:ext cx="2457450" cy="6731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08940" y="3065780"/>
            <a:ext cx="392811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表4-1：比較運算子</a:t>
            </a:r>
            <a:endParaRPr lang="en-US"/>
          </a:p>
        </p:txBody>
      </p:sp>
      <p:graphicFrame>
        <p:nvGraphicFramePr>
          <p:cNvPr id="10" name="Table 9"/>
          <p:cNvGraphicFramePr/>
          <p:nvPr/>
        </p:nvGraphicFramePr>
        <p:xfrm>
          <a:off x="457835" y="3341370"/>
          <a:ext cx="3879215" cy="1463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2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比較運算子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說明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==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如果兩者</a:t>
                      </a: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相等</a:t>
                      </a: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則成立，請注意，這要寫成</a:t>
                      </a: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兩個連續等號</a:t>
                      </a: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，中間不能有空格。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!=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如果</a:t>
                      </a: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不相等</a:t>
                      </a: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則成立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&lt;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如果左邊小於右邊則成立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&gt;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如果左邊大於右邊則成立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&lt;=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如果左邊小於或等於右邊則成立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&gt;=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如果左邊大於或等於右邊則成立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81635" y="5058410"/>
            <a:ext cx="388048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200" b="1">
                <a:latin typeface="新細明體" panose="02020500000000000000" charset="-120"/>
                <a:ea typeface="新細明體" panose="02020500000000000000" charset="-120"/>
                <a:cs typeface="新細明體" panose="02020500000000000000" charset="-120"/>
              </a:rPr>
              <a:t>表4-2：邏輯運算子</a:t>
            </a:r>
            <a:endParaRPr lang="en-US" sz="1200" b="1">
              <a:latin typeface="新細明體" panose="02020500000000000000" charset="-120"/>
              <a:ea typeface="新細明體" panose="02020500000000000000" charset="-120"/>
              <a:cs typeface="新細明體" panose="02020500000000000000" charset="-120"/>
            </a:endParaRPr>
          </a:p>
        </p:txBody>
      </p:sp>
      <p:graphicFrame>
        <p:nvGraphicFramePr>
          <p:cNvPr id="12" name="Table 11"/>
          <p:cNvGraphicFramePr/>
          <p:nvPr/>
        </p:nvGraphicFramePr>
        <p:xfrm>
          <a:off x="323215" y="5334000"/>
          <a:ext cx="4278630" cy="1280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1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名稱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運算子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運算式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說明</a:t>
                      </a:r>
                      <a:endParaRPr lang="en-US" sz="1200" b="1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且（AND）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and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and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只有A和B兩個值</a:t>
                      </a: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都成立</a:t>
                      </a: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時，整個條件才算成立。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或（OR）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or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A or B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只要A或B</a:t>
                      </a:r>
                      <a:r>
                        <a:rPr sz="1200" b="1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任何一方成立</a:t>
                      </a: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，整個條件就算成立。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反相（NOT）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not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not A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新細明體" panose="02020500000000000000" charset="-120"/>
                          <a:ea typeface="新細明體" panose="02020500000000000000" charset="-120"/>
                          <a:cs typeface="新細明體" panose="02020500000000000000" charset="-120"/>
                        </a:rPr>
                        <a:t>把成立的變為不成立；不成立的變為成立。</a:t>
                      </a:r>
                      <a:endParaRPr lang="en-US" sz="1200">
                        <a:latin typeface="新細明體" panose="02020500000000000000" charset="-120"/>
                        <a:ea typeface="新細明體" panose="02020500000000000000" charset="-120"/>
                        <a:cs typeface="新細明體" panose="02020500000000000000" charset="-120"/>
                      </a:endParaRPr>
                    </a:p>
                  </a:txBody>
                  <a:tcPr marL="0" marR="0" marT="0" marB="1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動手做4-2：LED切換開關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4-15</a:t>
            </a:r>
          </a:p>
        </p:txBody>
      </p:sp>
      <p:pic>
        <p:nvPicPr>
          <p:cNvPr id="4" name="Picture 3" descr="sw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176462"/>
            <a:ext cx="3562350" cy="1905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70D479D-80F0-4104-BC4D-EA75166B24E2}"/>
              </a:ext>
            </a:extLst>
          </p:cNvPr>
          <p:cNvSpPr/>
          <p:nvPr/>
        </p:nvSpPr>
        <p:spPr>
          <a:xfrm>
            <a:off x="539552" y="140580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沿用「動手做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4-1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」的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LED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和開關電路，軟體需求改成：「按一下開關點亮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LED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、再按一下開關則熄滅」。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2" name="Picture 67" descr="c11">
            <a:extLst>
              <a:ext uri="{FF2B5EF4-FFF2-40B4-BE49-F238E27FC236}">
                <a16:creationId xmlns:a16="http://schemas.microsoft.com/office/drawing/2014/main" id="{C12A43E7-CE74-4F9A-910F-360F89669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263" y="1844467"/>
            <a:ext cx="3562350" cy="89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68" descr="c11">
            <a:extLst>
              <a:ext uri="{FF2B5EF4-FFF2-40B4-BE49-F238E27FC236}">
                <a16:creationId xmlns:a16="http://schemas.microsoft.com/office/drawing/2014/main" id="{387746E6-4E2A-43F1-91F9-A091050E3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17" y="4365104"/>
            <a:ext cx="432752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64" descr="c11">
            <a:extLst>
              <a:ext uri="{FF2B5EF4-FFF2-40B4-BE49-F238E27FC236}">
                <a16:creationId xmlns:a16="http://schemas.microsoft.com/office/drawing/2014/main" id="{2D3E6062-201F-4E2F-8166-EFDB885C9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083" y="4911763"/>
            <a:ext cx="3812513" cy="186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9" descr="c11">
            <a:extLst>
              <a:ext uri="{FF2B5EF4-FFF2-40B4-BE49-F238E27FC236}">
                <a16:creationId xmlns:a16="http://schemas.microsoft.com/office/drawing/2014/main" id="{39345C34-7D9D-48D1-B48C-4C08F5147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084" y="3138004"/>
            <a:ext cx="3705530" cy="150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用程式解決開關訊號的彈跳問題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4-17</a:t>
            </a:r>
          </a:p>
        </p:txBody>
      </p:sp>
      <p:pic>
        <p:nvPicPr>
          <p:cNvPr id="4" name="Picture 3" descr="sw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4" y="2456894"/>
            <a:ext cx="3319378" cy="8280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6A4182C-81F8-4A44-BC29-BA236B229C3C}"/>
              </a:ext>
            </a:extLst>
          </p:cNvPr>
          <p:cNvSpPr/>
          <p:nvPr/>
        </p:nvSpPr>
        <p:spPr>
          <a:xfrm>
            <a:off x="611560" y="1668081"/>
            <a:ext cx="3960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機械式開關在切換的過程中，會經過短暫的，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像下圖一般忽高忽低變化的</a:t>
            </a:r>
            <a:r>
              <a:rPr lang="zh-TW" altLang="zh-TW" sz="1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彈跳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現象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146" name="Picture 54" descr="sw39">
            <a:extLst>
              <a:ext uri="{FF2B5EF4-FFF2-40B4-BE49-F238E27FC236}">
                <a16:creationId xmlns:a16="http://schemas.microsoft.com/office/drawing/2014/main" id="{A5E6479A-82F6-4A99-9ACA-3263EA693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3" y="3933056"/>
            <a:ext cx="3238324" cy="97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54" descr="c12">
            <a:extLst>
              <a:ext uri="{FF2B5EF4-FFF2-40B4-BE49-F238E27FC236}">
                <a16:creationId xmlns:a16="http://schemas.microsoft.com/office/drawing/2014/main" id="{70855C14-56CA-49F0-AF8F-CCAF05BA3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493" y="1672537"/>
            <a:ext cx="3741737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55" descr="sw40_1_s">
            <a:extLst>
              <a:ext uri="{FF2B5EF4-FFF2-40B4-BE49-F238E27FC236}">
                <a16:creationId xmlns:a16="http://schemas.microsoft.com/office/drawing/2014/main" id="{7D5CED83-472A-4190-A39D-013B354C7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797152"/>
            <a:ext cx="45561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270" y="101600"/>
            <a:ext cx="7185660" cy="1143000"/>
          </a:xfrm>
        </p:spPr>
        <p:txBody>
          <a:bodyPr/>
          <a:lstStyle/>
          <a:p>
            <a:r>
              <a:rPr lang="en-US" dirty="0" err="1"/>
              <a:t>用RC濾波電路消除彈跳雜訊</a:t>
            </a:r>
            <a:endParaRPr lang="en-US" dirty="0"/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4-18</a:t>
            </a:r>
          </a:p>
        </p:txBody>
      </p:sp>
      <p:pic>
        <p:nvPicPr>
          <p:cNvPr id="4" name="Picture 3" descr="sw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55" y="2288540"/>
            <a:ext cx="3663950" cy="1079500"/>
          </a:xfrm>
          <a:prstGeom prst="rect">
            <a:avLst/>
          </a:prstGeom>
        </p:spPr>
      </p:pic>
      <p:pic>
        <p:nvPicPr>
          <p:cNvPr id="5" name="Picture 4" descr="sw41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264" y="1916832"/>
            <a:ext cx="4603750" cy="2400300"/>
          </a:xfrm>
          <a:prstGeom prst="rect">
            <a:avLst/>
          </a:prstGeom>
        </p:spPr>
      </p:pic>
      <p:pic>
        <p:nvPicPr>
          <p:cNvPr id="7" name="Picture 6" descr="sw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61" y="5030819"/>
            <a:ext cx="2673350" cy="393700"/>
          </a:xfrm>
          <a:prstGeom prst="rect">
            <a:avLst/>
          </a:prstGeom>
        </p:spPr>
      </p:pic>
      <p:pic>
        <p:nvPicPr>
          <p:cNvPr id="8" name="Picture 7" descr="sw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965" y="5236854"/>
            <a:ext cx="4603750" cy="14541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5301FAC-2575-4DF1-A5E5-B7A751AF451A}"/>
              </a:ext>
            </a:extLst>
          </p:cNvPr>
          <p:cNvSpPr/>
          <p:nvPr/>
        </p:nvSpPr>
        <p:spPr>
          <a:xfrm>
            <a:off x="3518397" y="1215259"/>
            <a:ext cx="56256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對電容通電時，電容將開始儲存電荷，直到注滿到電壓的相同準位；斷電時，電容會開始放電，直到降到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0</a:t>
            </a:r>
            <a:r>
              <a:rPr lang="zh-TW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（亦即，「接地」的準位）。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471841-2A33-44B9-902A-BB81361B39E2}"/>
              </a:ext>
            </a:extLst>
          </p:cNvPr>
          <p:cNvSpPr/>
          <p:nvPr/>
        </p:nvSpPr>
        <p:spPr>
          <a:xfrm>
            <a:off x="275309" y="4346549"/>
            <a:ext cx="56256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電容充電到約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70%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僅需花費一個時間常數；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以電阻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12KΩ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和電容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0.1µF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為例，時間常數約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1.2ms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電容式觸控開關模組</a:t>
            </a:r>
          </a:p>
        </p:txBody>
      </p:sp>
      <p:sp>
        <p:nvSpPr>
          <p:cNvPr id="7172" name="Oval 8202"/>
          <p:cNvSpPr/>
          <p:nvPr/>
        </p:nvSpPr>
        <p:spPr>
          <a:xfrm>
            <a:off x="133985" y="5807393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210661" y="5951855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4-24</a:t>
            </a:r>
          </a:p>
        </p:txBody>
      </p:sp>
      <p:pic>
        <p:nvPicPr>
          <p:cNvPr id="4" name="Picture 3" descr="sw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" y="1520190"/>
            <a:ext cx="3946525" cy="1638935"/>
          </a:xfrm>
          <a:prstGeom prst="rect">
            <a:avLst/>
          </a:prstGeom>
        </p:spPr>
      </p:pic>
      <p:pic>
        <p:nvPicPr>
          <p:cNvPr id="5" name="Picture 4" descr="sw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760" y="1475740"/>
            <a:ext cx="4351020" cy="1951355"/>
          </a:xfrm>
          <a:prstGeom prst="rect">
            <a:avLst/>
          </a:prstGeom>
        </p:spPr>
      </p:pic>
      <p:pic>
        <p:nvPicPr>
          <p:cNvPr id="6" name="Picture 5" descr="sw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3607435"/>
            <a:ext cx="3282950" cy="768350"/>
          </a:xfrm>
          <a:prstGeom prst="rect">
            <a:avLst/>
          </a:prstGeom>
        </p:spPr>
      </p:pic>
      <p:pic>
        <p:nvPicPr>
          <p:cNvPr id="7" name="Picture 6" descr="sw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4849495"/>
            <a:ext cx="3556000" cy="692150"/>
          </a:xfrm>
          <a:prstGeom prst="rect">
            <a:avLst/>
          </a:prstGeom>
        </p:spPr>
      </p:pic>
      <p:sp>
        <p:nvSpPr>
          <p:cNvPr id="100" name="Text Box 99"/>
          <p:cNvSpPr txBox="1"/>
          <p:nvPr/>
        </p:nvSpPr>
        <p:spPr>
          <a:xfrm>
            <a:off x="5022850" y="4375785"/>
            <a:ext cx="367284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from machine import Pin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 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led = Pin(2, Pin.OUT, value=1)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sw = Pin(5, Pin.IN)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 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while True: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    if sw.value() == 1 :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        led.value(not led.value())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        while sw.value() == 1 :</a:t>
            </a:r>
          </a:p>
          <a:p>
            <a:r>
              <a:rPr sz="1200">
                <a:latin typeface="Courier New" panose="02070309020205020404" charset="0"/>
                <a:ea typeface="新細明體" panose="02020500000000000000" charset="-120"/>
                <a:cs typeface="新細明體" panose="02020500000000000000" charset="-120"/>
              </a:rPr>
              <a:t>            pass</a:t>
            </a:r>
            <a:endParaRPr lang="en-US" sz="1200">
              <a:latin typeface="Courier New" panose="02070309020205020404" charset="0"/>
              <a:ea typeface="新細明體" panose="02020500000000000000" charset="-120"/>
              <a:cs typeface="新細明體" panose="02020500000000000000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Technolog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216606"/>
      </a:accent1>
      <a:accent2>
        <a:srgbClr val="669900"/>
      </a:accent2>
      <a:accent3>
        <a:srgbClr val="FFFFFF"/>
      </a:accent3>
      <a:accent4>
        <a:srgbClr val="000000"/>
      </a:accent4>
      <a:accent5>
        <a:srgbClr val="ABB9AA"/>
      </a:accent5>
      <a:accent6>
        <a:srgbClr val="5B8900"/>
      </a:accent6>
      <a:hlink>
        <a:srgbClr val="CC3300"/>
      </a:hlink>
      <a:folHlink>
        <a:srgbClr val="9966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216606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ABB9AA"/>
        </a:accent5>
        <a:accent6>
          <a:srgbClr val="5B8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585</Words>
  <Application>Microsoft Office PowerPoint</Application>
  <PresentationFormat>如螢幕大小 (4:3)</PresentationFormat>
  <Paragraphs>100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微軟正黑體</vt:lpstr>
      <vt:lpstr>新細明體</vt:lpstr>
      <vt:lpstr>Arial</vt:lpstr>
      <vt:lpstr>Courier New</vt:lpstr>
      <vt:lpstr>Wingdings</vt:lpstr>
      <vt:lpstr>Green Technology</vt:lpstr>
      <vt:lpstr>Custom Design</vt:lpstr>
      <vt:lpstr>Custom Design_2</vt:lpstr>
      <vt:lpstr>PowerPoint 簡報</vt:lpstr>
      <vt:lpstr>第4章 開關電路</vt:lpstr>
      <vt:lpstr>認識開關</vt:lpstr>
      <vt:lpstr>開關電路與上∕下拉電阻</vt:lpstr>
      <vt:lpstr>動手做4-1：用麵包板組裝開關電路</vt:lpstr>
      <vt:lpstr>啟用ESP8266晶片內部的上拉電阻</vt:lpstr>
      <vt:lpstr>改變程式流程的if條件式</vt:lpstr>
      <vt:lpstr>動手做4-2：LED切換開關</vt:lpstr>
      <vt:lpstr>用程式解決開關訊號的彈跳問題</vt:lpstr>
      <vt:lpstr>用RC濾波電路消除彈跳雜訊</vt:lpstr>
      <vt:lpstr>電容式觸控開關模組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認識MicroPython與ESP8266控制板</dc:title>
  <dc:creator>趙英傑</dc:creator>
  <cp:lastModifiedBy>Ying-Chieh Chao</cp:lastModifiedBy>
  <cp:revision>36</cp:revision>
  <dcterms:created xsi:type="dcterms:W3CDTF">2013-06-03T22:45:00Z</dcterms:created>
  <dcterms:modified xsi:type="dcterms:W3CDTF">2019-09-11T06:30:20Z</dcterms:modified>
  <cp:category>超圖解 Python 物聯網實作入門：使用 ESP8266 與 MicroPython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1033-10.2.0.6051</vt:lpwstr>
  </property>
</Properties>
</file>