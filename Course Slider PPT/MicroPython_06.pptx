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3" r:id="rId3"/>
  </p:sldMasterIdLst>
  <p:sldIdLst>
    <p:sldId id="256" r:id="rId4"/>
    <p:sldId id="25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u="none" kern="1200" baseline="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81" d="100"/>
          <a:sy n="81" d="100"/>
        </p:scale>
        <p:origin x="1498" y="62"/>
      </p:cViewPr>
      <p:guideLst>
        <p:guide orient="horz" pos="213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 descr="micropython_cover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5925" y="2944813"/>
            <a:ext cx="5715000" cy="3676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Picture 2" descr="micropython_cover_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125" y="206375"/>
            <a:ext cx="3810000" cy="2419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3" descr="autho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1625" y="6196013"/>
            <a:ext cx="952500" cy="393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Picture 4" descr="flag_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02625" y="219075"/>
            <a:ext cx="571500" cy="736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7760" y="101600"/>
            <a:ext cx="2126853" cy="6024563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1600"/>
            <a:ext cx="6257264" cy="6024563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6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027"/>
          <p:cNvSpPr>
            <a:spLocks noGrp="1"/>
          </p:cNvSpPr>
          <p:nvPr>
            <p:ph type="body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1029" name="Date Placeholder 1028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Footer Placeholder 1029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ctr">
              <a:defRPr sz="1400">
                <a:solidFill>
                  <a:schemeClr val="bg1"/>
                </a:solidFill>
              </a:defRPr>
            </a:lvl1pPr>
          </a:lstStyle>
          <a:p>
            <a:pPr lvl="0" fontAlgn="base"/>
            <a:endParaRPr lang="en-US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1" name="Slide Number Placeholder 1030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indent="0" algn="r">
              <a:defRPr sz="1400"/>
            </a:lvl1pPr>
          </a:lstStyle>
          <a:p>
            <a:pPr lvl="0" fontAlgn="base"/>
            <a:fld id="{9A0DB2DC-4C9A-4742-B13C-FB6460FD3503}" type="slidenum">
              <a:rPr lang="en-US" alt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‹#›</a:t>
            </a:fld>
            <a:endParaRPr lang="en-US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600" b="0" u="none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074"/>
          <p:cNvSpPr>
            <a:spLocks noGrp="1"/>
          </p:cNvSpPr>
          <p:nvPr>
            <p:ph type="title"/>
          </p:nvPr>
        </p:nvSpPr>
        <p:spPr>
          <a:xfrm>
            <a:off x="684213" y="274638"/>
            <a:ext cx="8002587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075"/>
          <p:cNvSpPr>
            <a:spLocks noGrp="1"/>
          </p:cNvSpPr>
          <p:nvPr>
            <p:ph type="body"/>
          </p:nvPr>
        </p:nvSpPr>
        <p:spPr>
          <a:xfrm>
            <a:off x="4141788" y="1600200"/>
            <a:ext cx="4546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3077" name="Footer Placeholder 307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3078" name="Slide Number Placeholder 307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  <p:pic>
        <p:nvPicPr>
          <p:cNvPr id="2" name="Picture 1" descr="boards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32460" y="1847215"/>
            <a:ext cx="1314450" cy="4432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1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1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1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nner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6035" y="-17145"/>
            <a:ext cx="9197340" cy="1253490"/>
          </a:xfrm>
          <a:prstGeom prst="rect">
            <a:avLst/>
          </a:prstGeom>
        </p:spPr>
      </p:pic>
      <p:sp>
        <p:nvSpPr>
          <p:cNvPr id="3075" name="Title 4098"/>
          <p:cNvSpPr>
            <a:spLocks noGrp="1"/>
          </p:cNvSpPr>
          <p:nvPr>
            <p:ph type="title"/>
          </p:nvPr>
        </p:nvSpPr>
        <p:spPr>
          <a:xfrm>
            <a:off x="2195513" y="101600"/>
            <a:ext cx="67691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4099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en-US"/>
              <a:t>Click to edit Master text styles</a:t>
            </a:r>
          </a:p>
          <a:p>
            <a:pPr lvl="1" indent="-285750"/>
            <a:r>
              <a:rPr lang="en-US" altLang="en-US"/>
              <a:t>Second level</a:t>
            </a:r>
          </a:p>
          <a:p>
            <a:pPr lvl="2" indent="-228600"/>
            <a:r>
              <a:rPr lang="en-US" altLang="en-US"/>
              <a:t>Third level</a:t>
            </a:r>
          </a:p>
          <a:p>
            <a:pPr lvl="3" indent="-228600"/>
            <a:r>
              <a:rPr lang="en-US" altLang="en-US"/>
              <a:t>Fourth level</a:t>
            </a:r>
          </a:p>
          <a:p>
            <a:pPr lvl="4" indent="-228600"/>
            <a:r>
              <a:rPr lang="en-US" altLang="en-US"/>
              <a:t>Fifth level</a:t>
            </a:r>
          </a:p>
        </p:txBody>
      </p:sp>
      <p:sp>
        <p:nvSpPr>
          <p:cNvPr id="4101" name="Date Placeholder 4100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2" name="Footer Placeholder 4101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en-US" strike="noStrike" noProof="1"/>
          </a:p>
        </p:txBody>
      </p:sp>
      <p:sp>
        <p:nvSpPr>
          <p:cNvPr id="4103" name="Slide Number Placeholder 4102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en-US" strike="noStrike" noProof="1">
                <a:latin typeface="Arial" panose="020B0604020202020204" pitchFamily="34" charset="0"/>
                <a:ea typeface="Arial" panose="020B0604020202020204" pitchFamily="34" charset="0"/>
                <a:cs typeface="+mn-ea"/>
              </a:rPr>
              <a:t>‹#›</a:t>
            </a:fld>
            <a:endParaRPr 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sldNum="0" hdr="0" ftr="0" dt="0"/>
  <p:txStyles>
    <p:title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7169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第</a:t>
            </a:r>
            <a:r>
              <a:rPr lang="en-US" altLang="zh-TW" dirty="0"/>
              <a:t>6</a:t>
            </a:r>
            <a:r>
              <a:rPr lang="zh-TW" altLang="en-US" dirty="0"/>
              <a:t>章 Wi-Fi無線網路</a:t>
            </a:r>
          </a:p>
        </p:txBody>
      </p:sp>
      <p:sp>
        <p:nvSpPr>
          <p:cNvPr id="6146" name="Text Placeholder 7170"/>
          <p:cNvSpPr>
            <a:spLocks noGrp="1"/>
          </p:cNvSpPr>
          <p:nvPr>
            <p:ph idx="1"/>
          </p:nvPr>
        </p:nvSpPr>
        <p:spPr>
          <a:xfrm>
            <a:off x="2385695" y="1983105"/>
            <a:ext cx="6598920" cy="4526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zh-TW" altLang="en-US" sz="2800" dirty="0"/>
              <a:t>Wi-Fi無線網路標準與訊號強度簡介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在瀏覽器中使用WebREPL介面操作MicroPython控制板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設定ESP8266連接自家的Wi-Fi基地台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設定開機自動連線網路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掃描網路基地台、查詢MAC位址與網路連線狀態</a:t>
            </a:r>
          </a:p>
          <a:p>
            <a:pPr>
              <a:lnSpc>
                <a:spcPct val="90000"/>
              </a:lnSpc>
            </a:pPr>
            <a:r>
              <a:rPr lang="zh-TW" altLang="en-US" sz="2800" dirty="0"/>
              <a:t>bytes（位元組）類型與字元編碼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024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TW" altLang="en-US" dirty="0"/>
              <a:t>認識無線區域網路與Wi-Fi</a:t>
            </a:r>
          </a:p>
        </p:txBody>
      </p:sp>
      <p:sp>
        <p:nvSpPr>
          <p:cNvPr id="7172" name="Oval 8202"/>
          <p:cNvSpPr/>
          <p:nvPr/>
        </p:nvSpPr>
        <p:spPr>
          <a:xfrm>
            <a:off x="395536" y="2671046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96978" y="2815508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6-2</a:t>
            </a:r>
          </a:p>
        </p:txBody>
      </p:sp>
      <p:pic>
        <p:nvPicPr>
          <p:cNvPr id="2" name="Picture 1" descr="6_1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422" y="1543050"/>
            <a:ext cx="4673600" cy="1885950"/>
          </a:xfrm>
          <a:prstGeom prst="rect">
            <a:avLst/>
          </a:prstGeom>
        </p:spPr>
      </p:pic>
      <p:pic>
        <p:nvPicPr>
          <p:cNvPr id="3" name="Picture 2" descr="6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610" y="5267325"/>
            <a:ext cx="4305300" cy="1371600"/>
          </a:xfrm>
          <a:prstGeom prst="rect">
            <a:avLst/>
          </a:prstGeom>
        </p:spPr>
      </p:pic>
      <p:pic>
        <p:nvPicPr>
          <p:cNvPr id="5" name="Picture 4" descr="6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01" y="3961765"/>
            <a:ext cx="3378200" cy="11684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5BBD788-56DA-4CC6-85B4-7DE6482BF3DE}"/>
              </a:ext>
            </a:extLst>
          </p:cNvPr>
          <p:cNvSpPr/>
          <p:nvPr/>
        </p:nvSpPr>
        <p:spPr>
          <a:xfrm>
            <a:off x="676604" y="1696636"/>
            <a:ext cx="24128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ESP8266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支援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2.4GHz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頻段的</a:t>
            </a:r>
            <a:endParaRPr lang="en-US" altLang="zh-TW" sz="1400" dirty="0">
              <a:latin typeface="+mn-ea"/>
              <a:ea typeface="+mn-ea"/>
              <a:cs typeface="新細明體" panose="02020500000000000000" pitchFamily="18" charset="-120"/>
            </a:endParaRPr>
          </a:p>
          <a:p>
            <a:pPr>
              <a:spcAft>
                <a:spcPts val="0"/>
              </a:spcAft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802.11 b/g/n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規格</a:t>
            </a:r>
            <a:endParaRPr lang="zh-TW" altLang="zh-TW" sz="14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230BCA-8F54-4FD2-8320-D19EB073AEB6}"/>
              </a:ext>
            </a:extLst>
          </p:cNvPr>
          <p:cNvSpPr/>
          <p:nvPr/>
        </p:nvSpPr>
        <p:spPr>
          <a:xfrm>
            <a:off x="4122011" y="3973699"/>
            <a:ext cx="498649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Wi-Fi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網路環境通常由兩種設備組成：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Access Point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（「存取點」或「無線接入點」，簡稱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AP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）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Station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（「基站」或「無線終端」，簡稱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STA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）</a:t>
            </a:r>
            <a:endParaRPr lang="zh-TW" altLang="zh-TW" sz="14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Wi-Fi無線網路的頻道和訊號強度</a:t>
            </a:r>
          </a:p>
        </p:txBody>
      </p:sp>
      <p:sp>
        <p:nvSpPr>
          <p:cNvPr id="7172" name="Oval 8202"/>
          <p:cNvSpPr/>
          <p:nvPr/>
        </p:nvSpPr>
        <p:spPr>
          <a:xfrm>
            <a:off x="339725" y="571277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41167" y="585724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6-6</a:t>
            </a:r>
          </a:p>
        </p:txBody>
      </p:sp>
      <p:pic>
        <p:nvPicPr>
          <p:cNvPr id="4" name="Picture 3" descr="6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373" y="2330144"/>
            <a:ext cx="4641850" cy="9652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CFB1609-4F21-4642-A8D4-20223A21A8CB}"/>
              </a:ext>
            </a:extLst>
          </p:cNvPr>
          <p:cNvSpPr/>
          <p:nvPr/>
        </p:nvSpPr>
        <p:spPr>
          <a:xfrm>
            <a:off x="3979223" y="1560934"/>
            <a:ext cx="457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802.11g/n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無線網路標準，在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2.4GHz~2.494GHz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頻譜範圍內，劃分了</a:t>
            </a:r>
            <a:r>
              <a:rPr lang="en-US" altLang="zh-TW" sz="1400" b="1" dirty="0">
                <a:latin typeface="+mn-ea"/>
                <a:ea typeface="+mn-ea"/>
                <a:cs typeface="新細明體" panose="02020500000000000000" pitchFamily="18" charset="-120"/>
              </a:rPr>
              <a:t>14</a:t>
            </a:r>
            <a:r>
              <a:rPr lang="zh-TW" altLang="zh-TW" sz="1400" b="1" dirty="0">
                <a:latin typeface="+mn-ea"/>
                <a:ea typeface="+mn-ea"/>
                <a:cs typeface="新細明體" panose="02020500000000000000" pitchFamily="18" charset="-120"/>
              </a:rPr>
              <a:t>個頻道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，每個頻道的頻寬為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20MHz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。</a:t>
            </a:r>
            <a:endParaRPr lang="zh-TW" altLang="zh-TW" sz="14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882562-8D7F-402E-9B4E-24057C565182}"/>
              </a:ext>
            </a:extLst>
          </p:cNvPr>
          <p:cNvSpPr/>
          <p:nvPr/>
        </p:nvSpPr>
        <p:spPr>
          <a:xfrm>
            <a:off x="171197" y="3912440"/>
            <a:ext cx="35283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Wi-Fi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網路的接收信號強度（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Received Signal Strength Indicator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，簡寫成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RSSI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）代表無線終端接收無線接入點訊號的收訊強度值，單位是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dBm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。</a:t>
            </a:r>
            <a:endParaRPr lang="zh-TW" altLang="zh-TW" sz="14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Picture 31" descr="wi_fi_4">
            <a:extLst>
              <a:ext uri="{FF2B5EF4-FFF2-40B4-BE49-F238E27FC236}">
                <a16:creationId xmlns:a16="http://schemas.microsoft.com/office/drawing/2014/main" id="{FFBA2619-9480-48AE-BC9E-244B4CDCCC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79223" y="3912440"/>
            <a:ext cx="4723610" cy="2769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從網頁瀏覽器操作MicroPython控制板</a:t>
            </a:r>
          </a:p>
        </p:txBody>
      </p:sp>
      <p:sp>
        <p:nvSpPr>
          <p:cNvPr id="7172" name="Oval 8202"/>
          <p:cNvSpPr/>
          <p:nvPr/>
        </p:nvSpPr>
        <p:spPr>
          <a:xfrm>
            <a:off x="8029811" y="415320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8131253" y="4297670"/>
            <a:ext cx="64008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6-6</a:t>
            </a:r>
          </a:p>
        </p:txBody>
      </p:sp>
      <p:pic>
        <p:nvPicPr>
          <p:cNvPr id="4" name="Picture 3" descr="6_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" y="1692275"/>
            <a:ext cx="4006850" cy="927100"/>
          </a:xfrm>
          <a:prstGeom prst="rect">
            <a:avLst/>
          </a:prstGeom>
        </p:spPr>
      </p:pic>
      <p:pic>
        <p:nvPicPr>
          <p:cNvPr id="6" name="Picture 5" descr="6_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8" y="3339873"/>
            <a:ext cx="4292600" cy="812800"/>
          </a:xfrm>
          <a:prstGeom prst="rect">
            <a:avLst/>
          </a:prstGeom>
        </p:spPr>
      </p:pic>
      <p:pic>
        <p:nvPicPr>
          <p:cNvPr id="7" name="Picture 6" descr="6_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725" y="4509770"/>
            <a:ext cx="2415540" cy="2123440"/>
          </a:xfrm>
          <a:prstGeom prst="rect">
            <a:avLst/>
          </a:prstGeom>
        </p:spPr>
      </p:pic>
      <p:pic>
        <p:nvPicPr>
          <p:cNvPr id="8" name="Picture 7" descr="6_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 flipV="1">
            <a:off x="6957695" y="5338445"/>
            <a:ext cx="1931670" cy="129476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E7A9F6-3337-49A5-B37C-996B0107EE5F}"/>
              </a:ext>
            </a:extLst>
          </p:cNvPr>
          <p:cNvSpPr/>
          <p:nvPr/>
        </p:nvSpPr>
        <p:spPr>
          <a:xfrm>
            <a:off x="219788" y="4503839"/>
            <a:ext cx="356012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在終端機中輸入“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import </a:t>
            </a:r>
            <a:r>
              <a:rPr lang="en-US" altLang="zh-TW" sz="1400" dirty="0" err="1">
                <a:latin typeface="+mn-ea"/>
                <a:ea typeface="+mn-ea"/>
                <a:cs typeface="新細明體" panose="02020500000000000000" pitchFamily="18" charset="-120"/>
              </a:rPr>
              <a:t>webrepl_setup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”命令，然後依照畫面指示，進行按下“</a:t>
            </a:r>
            <a:r>
              <a:rPr lang="en-US" altLang="zh-TW" sz="1400" dirty="0">
                <a:latin typeface="+mn-ea"/>
                <a:ea typeface="+mn-ea"/>
                <a:cs typeface="新細明體" panose="02020500000000000000" pitchFamily="18" charset="-120"/>
              </a:rPr>
              <a:t>E</a:t>
            </a:r>
            <a:r>
              <a:rPr lang="zh-TW" altLang="zh-TW" sz="1400" dirty="0">
                <a:latin typeface="+mn-ea"/>
                <a:ea typeface="+mn-ea"/>
                <a:cs typeface="新細明體" panose="02020500000000000000" pitchFamily="18" charset="-120"/>
              </a:rPr>
              <a:t>”啟用、輸入連線密碼…等操作</a:t>
            </a:r>
            <a:endParaRPr lang="zh-TW" altLang="en-US" sz="1400" dirty="0">
              <a:latin typeface="+mn-ea"/>
              <a:ea typeface="+mn-ea"/>
            </a:endParaRPr>
          </a:p>
        </p:txBody>
      </p:sp>
      <p:pic>
        <p:nvPicPr>
          <p:cNvPr id="11" name="Picture 36">
            <a:extLst>
              <a:ext uri="{FF2B5EF4-FFF2-40B4-BE49-F238E27FC236}">
                <a16:creationId xmlns:a16="http://schemas.microsoft.com/office/drawing/2014/main" id="{9E9C56B7-B7F7-444A-BECC-EC25F773E6CF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4788024" y="1530598"/>
            <a:ext cx="4286250" cy="233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6C94453-CAF8-4663-A28C-013A6BE7141E}"/>
              </a:ext>
            </a:extLst>
          </p:cNvPr>
          <p:cNvSpPr/>
          <p:nvPr/>
        </p:nvSpPr>
        <p:spPr>
          <a:xfrm>
            <a:off x="219788" y="5894547"/>
            <a:ext cx="35601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latin typeface="+mn-ea"/>
                <a:ea typeface="+mn-ea"/>
                <a:cs typeface="新細明體" panose="02020500000000000000" pitchFamily="18" charset="-120"/>
              </a:rPr>
              <a:t>MicroPython</a:t>
            </a:r>
            <a:r>
              <a:rPr lang="zh-TW" altLang="en-US" sz="1400" dirty="0">
                <a:latin typeface="+mn-ea"/>
                <a:ea typeface="+mn-ea"/>
                <a:cs typeface="新細明體" panose="02020500000000000000" pitchFamily="18" charset="-120"/>
              </a:rPr>
              <a:t>「基地台」的連線密碼：</a:t>
            </a:r>
            <a:r>
              <a:rPr lang="en-US" altLang="zh-TW" sz="1400" b="1" dirty="0" err="1">
                <a:latin typeface="+mn-ea"/>
                <a:ea typeface="+mn-ea"/>
                <a:cs typeface="新細明體" panose="02020500000000000000" pitchFamily="18" charset="-120"/>
              </a:rPr>
              <a:t>micropythoN</a:t>
            </a:r>
            <a:endParaRPr lang="zh-TW" altLang="en-US" sz="1400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在瀏覽器中使用WebREPL介面</a:t>
            </a:r>
          </a:p>
        </p:txBody>
      </p:sp>
      <p:sp>
        <p:nvSpPr>
          <p:cNvPr id="7172" name="Oval 8202"/>
          <p:cNvSpPr/>
          <p:nvPr/>
        </p:nvSpPr>
        <p:spPr>
          <a:xfrm>
            <a:off x="339725" y="571277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16402" y="585724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6-10</a:t>
            </a:r>
          </a:p>
        </p:txBody>
      </p:sp>
      <p:pic>
        <p:nvPicPr>
          <p:cNvPr id="8" name="Picture 7" descr="6_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60" y="1124744"/>
            <a:ext cx="4210050" cy="17716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0F8174-BC9F-4261-BFDD-4E9884CFEF9B}"/>
              </a:ext>
            </a:extLst>
          </p:cNvPr>
          <p:cNvSpPr/>
          <p:nvPr/>
        </p:nvSpPr>
        <p:spPr>
          <a:xfrm>
            <a:off x="1026234" y="2492896"/>
            <a:ext cx="27306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Chrome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或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Firefox</a:t>
            </a:r>
            <a:r>
              <a:rPr lang="zh-CN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（火狐）瀏覽器開啟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webrepl.html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FDEB98-ED3C-4E8B-BC8D-350AD42D7383}"/>
              </a:ext>
            </a:extLst>
          </p:cNvPr>
          <p:cNvSpPr/>
          <p:nvPr/>
        </p:nvSpPr>
        <p:spPr>
          <a:xfrm>
            <a:off x="1026234" y="4264412"/>
            <a:ext cx="27306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WebREPL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介面右邊的欄位，用於從控制板下載或上傳檔案。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Picture 39" descr="wifi6">
            <a:extLst>
              <a:ext uri="{FF2B5EF4-FFF2-40B4-BE49-F238E27FC236}">
                <a16:creationId xmlns:a16="http://schemas.microsoft.com/office/drawing/2014/main" id="{BAC994E9-D86F-47A1-BB50-CA8EA9F4952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08036" y="2996952"/>
            <a:ext cx="4572000" cy="1924050"/>
          </a:xfrm>
          <a:prstGeom prst="rect">
            <a:avLst/>
          </a:prstGeom>
        </p:spPr>
      </p:pic>
      <p:pic>
        <p:nvPicPr>
          <p:cNvPr id="13" name="Picture 41" descr="wifi5">
            <a:extLst>
              <a:ext uri="{FF2B5EF4-FFF2-40B4-BE49-F238E27FC236}">
                <a16:creationId xmlns:a16="http://schemas.microsoft.com/office/drawing/2014/main" id="{6A35F0F8-231B-4604-9CDC-3B353A993C1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995936" y="5013176"/>
            <a:ext cx="4279900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設定ESP8266以STA（基站）模式連接無線網路</a:t>
            </a:r>
          </a:p>
        </p:txBody>
      </p:sp>
      <p:sp>
        <p:nvSpPr>
          <p:cNvPr id="7172" name="Oval 8202"/>
          <p:cNvSpPr/>
          <p:nvPr/>
        </p:nvSpPr>
        <p:spPr>
          <a:xfrm>
            <a:off x="416402" y="393480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93079" y="407927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6-12</a:t>
            </a:r>
          </a:p>
        </p:txBody>
      </p:sp>
      <p:pic>
        <p:nvPicPr>
          <p:cNvPr id="4" name="Picture 3" descr="6_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80" y="4260395"/>
            <a:ext cx="4394200" cy="685800"/>
          </a:xfrm>
          <a:prstGeom prst="rect">
            <a:avLst/>
          </a:prstGeom>
        </p:spPr>
      </p:pic>
      <p:pic>
        <p:nvPicPr>
          <p:cNvPr id="5" name="Picture 4" descr="6_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2609478"/>
            <a:ext cx="3067050" cy="1225550"/>
          </a:xfrm>
          <a:prstGeom prst="rect">
            <a:avLst/>
          </a:prstGeom>
        </p:spPr>
      </p:pic>
      <p:pic>
        <p:nvPicPr>
          <p:cNvPr id="9" name="Picture 57" descr="ls4">
            <a:extLst>
              <a:ext uri="{FF2B5EF4-FFF2-40B4-BE49-F238E27FC236}">
                <a16:creationId xmlns:a16="http://schemas.microsoft.com/office/drawing/2014/main" id="{E1A61E52-8AC5-4271-A816-C4BAD89AA8C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012504" y="1659610"/>
            <a:ext cx="4324350" cy="685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EC5E278-71F0-4659-8AA9-E81ACEBD0B7C}"/>
              </a:ext>
            </a:extLst>
          </p:cNvPr>
          <p:cNvSpPr/>
          <p:nvPr/>
        </p:nvSpPr>
        <p:spPr>
          <a:xfrm>
            <a:off x="339725" y="2770777"/>
            <a:ext cx="358420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介面模式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有兩種選擇：</a:t>
            </a:r>
            <a:endParaRPr lang="zh-TW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network.AP_IF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：基地台（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AP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）模式</a:t>
            </a:r>
            <a:endParaRPr lang="zh-TW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network.STA_IF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：基站（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STA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）模式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6FBB5C-A6C7-4216-A969-AF3B50530FFA}"/>
              </a:ext>
            </a:extLst>
          </p:cNvPr>
          <p:cNvSpPr/>
          <p:nvPr/>
        </p:nvSpPr>
        <p:spPr>
          <a:xfrm>
            <a:off x="123701" y="5435783"/>
            <a:ext cx="35842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ifconfig()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自行設定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IP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位址和其他參數</a:t>
            </a:r>
            <a:endParaRPr lang="zh-TW" altLang="zh-TW" sz="14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13" name="Picture 44" descr="wifi2">
            <a:extLst>
              <a:ext uri="{FF2B5EF4-FFF2-40B4-BE49-F238E27FC236}">
                <a16:creationId xmlns:a16="http://schemas.microsoft.com/office/drawing/2014/main" id="{C2B18212-ED83-4D1A-8BBB-43DE3F69024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707904" y="5132694"/>
            <a:ext cx="4451350" cy="971550"/>
          </a:xfrm>
          <a:prstGeom prst="rect">
            <a:avLst/>
          </a:prstGeom>
        </p:spPr>
      </p:pic>
      <p:pic>
        <p:nvPicPr>
          <p:cNvPr id="14" name="Picture 46" descr="wifi3">
            <a:extLst>
              <a:ext uri="{FF2B5EF4-FFF2-40B4-BE49-F238E27FC236}">
                <a16:creationId xmlns:a16="http://schemas.microsoft.com/office/drawing/2014/main" id="{7EE584D6-32A4-4D45-960E-EDE732B7720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3714480" y="6290743"/>
            <a:ext cx="445135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修改boot.py檔、開機自動連線</a:t>
            </a:r>
          </a:p>
        </p:txBody>
      </p:sp>
      <p:sp>
        <p:nvSpPr>
          <p:cNvPr id="7172" name="Oval 8202"/>
          <p:cNvSpPr/>
          <p:nvPr/>
        </p:nvSpPr>
        <p:spPr>
          <a:xfrm>
            <a:off x="339725" y="571277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16402" y="585724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6-15</a:t>
            </a:r>
          </a:p>
        </p:txBody>
      </p:sp>
      <p:pic>
        <p:nvPicPr>
          <p:cNvPr id="5" name="Picture 4" descr="6_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5194" y="1700808"/>
            <a:ext cx="3793276" cy="1496620"/>
          </a:xfrm>
          <a:prstGeom prst="rect">
            <a:avLst/>
          </a:prstGeom>
        </p:spPr>
      </p:pic>
      <p:pic>
        <p:nvPicPr>
          <p:cNvPr id="8" name="Picture 6" descr="c13">
            <a:extLst>
              <a:ext uri="{FF2B5EF4-FFF2-40B4-BE49-F238E27FC236}">
                <a16:creationId xmlns:a16="http://schemas.microsoft.com/office/drawing/2014/main" id="{945AEF88-C91A-4364-B3F6-C1D079354E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496" y="1408391"/>
            <a:ext cx="5184576" cy="2288011"/>
          </a:xfrm>
          <a:prstGeom prst="rect">
            <a:avLst/>
          </a:prstGeom>
        </p:spPr>
      </p:pic>
      <p:pic>
        <p:nvPicPr>
          <p:cNvPr id="9" name="Picture 29" descr="c36">
            <a:extLst>
              <a:ext uri="{FF2B5EF4-FFF2-40B4-BE49-F238E27FC236}">
                <a16:creationId xmlns:a16="http://schemas.microsoft.com/office/drawing/2014/main" id="{81F0789B-2D36-4DB4-AB8E-FCBA92F00EF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434022" y="3878274"/>
            <a:ext cx="5269865" cy="292989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E35059D-5CC4-47C2-8752-2BA747145F82}"/>
              </a:ext>
            </a:extLst>
          </p:cNvPr>
          <p:cNvSpPr/>
          <p:nvPr/>
        </p:nvSpPr>
        <p:spPr>
          <a:xfrm>
            <a:off x="37330" y="4134331"/>
            <a:ext cx="32941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每次開機或者重置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MicroPython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控制板之後，它都會先執行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boot.py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新細明體" panose="02020500000000000000" pitchFamily="18" charset="-120"/>
              </a:rPr>
              <a:t>開機程序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bytes（位元組）類型與字元編碼</a:t>
            </a:r>
          </a:p>
        </p:txBody>
      </p:sp>
      <p:sp>
        <p:nvSpPr>
          <p:cNvPr id="7172" name="Oval 8202"/>
          <p:cNvSpPr/>
          <p:nvPr/>
        </p:nvSpPr>
        <p:spPr>
          <a:xfrm>
            <a:off x="276987" y="4266565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353664" y="4411027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6-21</a:t>
            </a:r>
          </a:p>
        </p:txBody>
      </p:sp>
      <p:pic>
        <p:nvPicPr>
          <p:cNvPr id="4" name="Picture 3" descr="6_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" y="1768475"/>
            <a:ext cx="4387850" cy="1219200"/>
          </a:xfrm>
          <a:prstGeom prst="rect">
            <a:avLst/>
          </a:prstGeom>
        </p:spPr>
      </p:pic>
      <p:pic>
        <p:nvPicPr>
          <p:cNvPr id="6" name="Picture 5" descr="6_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313" y="1434782"/>
            <a:ext cx="3797300" cy="1752600"/>
          </a:xfrm>
          <a:prstGeom prst="rect">
            <a:avLst/>
          </a:prstGeom>
        </p:spPr>
      </p:pic>
      <p:pic>
        <p:nvPicPr>
          <p:cNvPr id="9" name="Picture 8" descr="6_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10" y="5455079"/>
            <a:ext cx="4648200" cy="10668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41CE706-4A6F-4BAC-B94A-4B4A18037998}"/>
              </a:ext>
            </a:extLst>
          </p:cNvPr>
          <p:cNvSpPr/>
          <p:nvPr/>
        </p:nvSpPr>
        <p:spPr>
          <a:xfrm>
            <a:off x="184150" y="3242230"/>
            <a:ext cx="43878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把資料拆解成位元組格式的過程稱為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編碼（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encode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；還原資料的過程叫做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解碼（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decode</a:t>
            </a:r>
            <a:r>
              <a:rPr lang="zh-TW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。每個位元組都是編碼數字，其值介於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0~255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（十進制）。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DF96A5-A531-4509-98C1-E19D8A1CBF5A}"/>
              </a:ext>
            </a:extLst>
          </p:cNvPr>
          <p:cNvSpPr/>
          <p:nvPr/>
        </p:nvSpPr>
        <p:spPr>
          <a:xfrm>
            <a:off x="428813" y="5673745"/>
            <a:ext cx="33681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「位元組」、「字串」和「元組」，都屬於內容不可變動（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immutable</a:t>
            </a:r>
            <a:r>
              <a:rPr lang="zh-TW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）型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Picture 11" descr="c35">
            <a:extLst>
              <a:ext uri="{FF2B5EF4-FFF2-40B4-BE49-F238E27FC236}">
                <a16:creationId xmlns:a16="http://schemas.microsoft.com/office/drawing/2014/main" id="{C58671D3-505E-40F8-8231-D9FF5F17597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086397" y="4242519"/>
            <a:ext cx="47752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文字編碼與解碼</a:t>
            </a:r>
          </a:p>
        </p:txBody>
      </p:sp>
      <p:sp>
        <p:nvSpPr>
          <p:cNvPr id="7172" name="Oval 8202"/>
          <p:cNvSpPr/>
          <p:nvPr/>
        </p:nvSpPr>
        <p:spPr>
          <a:xfrm>
            <a:off x="339725" y="5712778"/>
            <a:ext cx="863600" cy="863600"/>
          </a:xfrm>
          <a:prstGeom prst="ellipse">
            <a:avLst/>
          </a:prstGeom>
          <a:solidFill>
            <a:srgbClr val="FF0000"/>
          </a:solidFill>
          <a:ln w="9525">
            <a:noFill/>
          </a:ln>
        </p:spPr>
        <p:txBody>
          <a:bodyPr anchor="t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173" name="Text Box 8203"/>
          <p:cNvSpPr txBox="1"/>
          <p:nvPr/>
        </p:nvSpPr>
        <p:spPr>
          <a:xfrm>
            <a:off x="416402" y="5857240"/>
            <a:ext cx="689610" cy="6451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參閱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微軟正黑體" panose="020B0604030504040204" charset="-120"/>
                <a:ea typeface="微軟正黑體" panose="020B0604030504040204" charset="-120"/>
              </a:rPr>
              <a:t>6-23</a:t>
            </a:r>
          </a:p>
        </p:txBody>
      </p:sp>
      <p:pic>
        <p:nvPicPr>
          <p:cNvPr id="4" name="Picture 3" descr="6_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90" y="1533426"/>
            <a:ext cx="3149600" cy="285750"/>
          </a:xfrm>
          <a:prstGeom prst="rect">
            <a:avLst/>
          </a:prstGeom>
        </p:spPr>
      </p:pic>
      <p:pic>
        <p:nvPicPr>
          <p:cNvPr id="5" name="Picture 4" descr="6_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70" y="1412776"/>
            <a:ext cx="4610100" cy="679450"/>
          </a:xfrm>
          <a:prstGeom prst="rect">
            <a:avLst/>
          </a:prstGeom>
        </p:spPr>
      </p:pic>
      <p:pic>
        <p:nvPicPr>
          <p:cNvPr id="6" name="Picture 5" descr="6_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570991"/>
            <a:ext cx="2374900" cy="177800"/>
          </a:xfrm>
          <a:prstGeom prst="rect">
            <a:avLst/>
          </a:prstGeom>
        </p:spPr>
      </p:pic>
      <p:pic>
        <p:nvPicPr>
          <p:cNvPr id="7" name="Picture 6" descr="6_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280" y="2477520"/>
            <a:ext cx="1168400" cy="622300"/>
          </a:xfrm>
          <a:prstGeom prst="rect">
            <a:avLst/>
          </a:prstGeom>
        </p:spPr>
      </p:pic>
      <p:pic>
        <p:nvPicPr>
          <p:cNvPr id="9" name="Picture 8" descr="6_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49" y="4365104"/>
            <a:ext cx="3549650" cy="8064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5B962E3-8FA0-4378-A55A-FD755D018E07}"/>
              </a:ext>
            </a:extLst>
          </p:cNvPr>
          <p:cNvSpPr/>
          <p:nvPr/>
        </p:nvSpPr>
        <p:spPr>
          <a:xfrm>
            <a:off x="179906" y="2348880"/>
            <a:ext cx="379816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在bytes物件中儲存ASCII以外的字元，都要使用bytes()函式轉換資料，並且指定編碼格式。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UTF-8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是「不固定長度」編碼，英文字元只佔一個位元，一個中文字則佔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2~4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位元組。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bytearray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是內容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可變動（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mutable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的位元組類型</a:t>
            </a:r>
          </a:p>
        </p:txBody>
      </p:sp>
      <p:pic>
        <p:nvPicPr>
          <p:cNvPr id="15" name="Picture 17" descr="c36">
            <a:extLst>
              <a:ext uri="{FF2B5EF4-FFF2-40B4-BE49-F238E27FC236}">
                <a16:creationId xmlns:a16="http://schemas.microsoft.com/office/drawing/2014/main" id="{E5F123FE-AC1C-44D9-9DE5-2F6951BFCBD1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4964430" y="3284984"/>
            <a:ext cx="3778250" cy="800100"/>
          </a:xfrm>
          <a:prstGeom prst="rect">
            <a:avLst/>
          </a:prstGeom>
        </p:spPr>
      </p:pic>
      <p:pic>
        <p:nvPicPr>
          <p:cNvPr id="16" name="Picture 7" descr="c35">
            <a:extLst>
              <a:ext uri="{FF2B5EF4-FFF2-40B4-BE49-F238E27FC236}">
                <a16:creationId xmlns:a16="http://schemas.microsoft.com/office/drawing/2014/main" id="{7E11FAE5-DADC-43E5-87D7-F679E80DAB2E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3920554" y="4365104"/>
            <a:ext cx="5187950" cy="971550"/>
          </a:xfrm>
          <a:prstGeom prst="rect">
            <a:avLst/>
          </a:prstGeom>
        </p:spPr>
      </p:pic>
      <p:pic>
        <p:nvPicPr>
          <p:cNvPr id="17" name="Picture 25" descr="c35">
            <a:extLst>
              <a:ext uri="{FF2B5EF4-FFF2-40B4-BE49-F238E27FC236}">
                <a16:creationId xmlns:a16="http://schemas.microsoft.com/office/drawing/2014/main" id="{7E40CFC0-2330-4254-BBFA-5B34A9454E95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3923928" y="5613243"/>
            <a:ext cx="5168900" cy="1231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Technology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216606"/>
      </a:accent1>
      <a:accent2>
        <a:srgbClr val="669900"/>
      </a:accent2>
      <a:accent3>
        <a:srgbClr val="FFFFFF"/>
      </a:accent3>
      <a:accent4>
        <a:srgbClr val="000000"/>
      </a:accent4>
      <a:accent5>
        <a:srgbClr val="ABB9AA"/>
      </a:accent5>
      <a:accent6>
        <a:srgbClr val="5B8900"/>
      </a:accent6>
      <a:hlink>
        <a:srgbClr val="CC3300"/>
      </a:hlink>
      <a:folHlink>
        <a:srgbClr val="9966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216606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ABB9AA"/>
        </a:accent5>
        <a:accent6>
          <a:srgbClr val="5B8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_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524</Words>
  <Application>Microsoft Office PowerPoint</Application>
  <PresentationFormat>如螢幕大小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Arial</vt:lpstr>
      <vt:lpstr>Wingdings</vt:lpstr>
      <vt:lpstr>Green Technology</vt:lpstr>
      <vt:lpstr>Custom Design</vt:lpstr>
      <vt:lpstr>Custom Design_2</vt:lpstr>
      <vt:lpstr>PowerPoint 簡報</vt:lpstr>
      <vt:lpstr>第6章 Wi-Fi無線網路</vt:lpstr>
      <vt:lpstr>認識無線區域網路與Wi-Fi</vt:lpstr>
      <vt:lpstr>Wi-Fi無線網路的頻道和訊號強度</vt:lpstr>
      <vt:lpstr>從網頁瀏覽器操作MicroPython控制板</vt:lpstr>
      <vt:lpstr>在瀏覽器中使用WebREPL介面</vt:lpstr>
      <vt:lpstr>設定ESP8266以STA（基站）模式連接無線網路</vt:lpstr>
      <vt:lpstr>修改boot.py檔、開機自動連線</vt:lpstr>
      <vt:lpstr>bytes（位元組）類型與字元編碼</vt:lpstr>
      <vt:lpstr>文字編碼與解碼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認識MicroPython與ESP8266控制板</dc:title>
  <dc:creator>趙英傑</dc:creator>
  <cp:lastModifiedBy>Ying-Chieh Chao</cp:lastModifiedBy>
  <cp:revision>39</cp:revision>
  <dcterms:created xsi:type="dcterms:W3CDTF">2013-06-03T22:45:00Z</dcterms:created>
  <dcterms:modified xsi:type="dcterms:W3CDTF">2019-09-11T12:46:03Z</dcterms:modified>
  <cp:category>超圖解 Python 物聯網實作入門：使用 ESP8266 與 MicroPython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1033-10.2.0.6051</vt:lpwstr>
  </property>
</Properties>
</file>